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4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2/12/2022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2/12/2022</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45096" y="1432219"/>
            <a:ext cx="7510272" cy="1515533"/>
          </a:xfrm>
        </p:spPr>
        <p:txBody>
          <a:bodyPr/>
          <a:lstStyle/>
          <a:p>
            <a:r>
              <a:rPr lang="en-US" sz="4400" dirty="0" smtClean="0"/>
              <a:t>MANAGEMENT OF COMPUTERS</a:t>
            </a:r>
            <a:endParaRPr lang="en-US" sz="4400" dirty="0"/>
          </a:p>
        </p:txBody>
      </p:sp>
      <p:sp>
        <p:nvSpPr>
          <p:cNvPr id="3" name="Subtitle 2"/>
          <p:cNvSpPr>
            <a:spLocks noGrp="1"/>
          </p:cNvSpPr>
          <p:nvPr>
            <p:ph type="subTitle" idx="1"/>
          </p:nvPr>
        </p:nvSpPr>
        <p:spPr/>
        <p:txBody>
          <a:bodyPr/>
          <a:lstStyle/>
          <a:p>
            <a:r>
              <a:rPr lang="en-US" dirty="0" smtClean="0"/>
              <a:t>BY A.MVULA</a:t>
            </a:r>
            <a:endParaRPr lang="en-US" dirty="0"/>
          </a:p>
        </p:txBody>
      </p:sp>
    </p:spTree>
    <p:extLst>
      <p:ext uri="{BB962C8B-B14F-4D97-AF65-F5344CB8AC3E}">
        <p14:creationId xmlns:p14="http://schemas.microsoft.com/office/powerpoint/2010/main" val="35392262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780288"/>
            <a:ext cx="9601196" cy="1505711"/>
          </a:xfrm>
        </p:spPr>
        <p:txBody>
          <a:bodyPr/>
          <a:lstStyle/>
          <a:p>
            <a:r>
              <a:rPr lang="en-US" dirty="0" smtClean="0"/>
              <a:t>HARDWARE INSTALLATION</a:t>
            </a:r>
            <a:endParaRPr lang="en-US" dirty="0"/>
          </a:p>
        </p:txBody>
      </p:sp>
      <p:sp>
        <p:nvSpPr>
          <p:cNvPr id="3" name="Content Placeholder 2"/>
          <p:cNvSpPr>
            <a:spLocks noGrp="1"/>
          </p:cNvSpPr>
          <p:nvPr>
            <p:ph idx="1"/>
          </p:nvPr>
        </p:nvSpPr>
        <p:spPr>
          <a:xfrm>
            <a:off x="743712" y="2036064"/>
            <a:ext cx="10753344" cy="4279392"/>
          </a:xfrm>
        </p:spPr>
        <p:txBody>
          <a:bodyPr>
            <a:normAutofit/>
          </a:bodyPr>
          <a:lstStyle/>
          <a:p>
            <a:pPr marL="0" indent="0">
              <a:buNone/>
            </a:pPr>
            <a:r>
              <a:rPr lang="en-US" dirty="0"/>
              <a:t>Setting up computer is very important before carrying out any activity. The following precautions should be </a:t>
            </a:r>
            <a:r>
              <a:rPr lang="en-US" dirty="0" smtClean="0"/>
              <a:t>observed</a:t>
            </a:r>
          </a:p>
          <a:p>
            <a:pPr>
              <a:buFont typeface="Wingdings" panose="05000000000000000000" pitchFamily="2" charset="2"/>
              <a:buChar char="v"/>
            </a:pPr>
            <a:r>
              <a:rPr lang="en-US" dirty="0"/>
              <a:t>All devices should disconnect from power source before starting to work on them.  </a:t>
            </a:r>
            <a:endParaRPr lang="en-US" dirty="0" smtClean="0"/>
          </a:p>
          <a:p>
            <a:pPr>
              <a:buFont typeface="Wingdings" panose="05000000000000000000" pitchFamily="2" charset="2"/>
              <a:buChar char="v"/>
            </a:pPr>
            <a:r>
              <a:rPr lang="en-US" dirty="0" smtClean="0"/>
              <a:t> </a:t>
            </a:r>
            <a:r>
              <a:rPr lang="en-US" dirty="0"/>
              <a:t>You must be guided by your ICT trainer working on peripheral devices.  </a:t>
            </a:r>
            <a:endParaRPr lang="en-US" dirty="0" smtClean="0"/>
          </a:p>
          <a:p>
            <a:pPr>
              <a:buFont typeface="Wingdings" panose="05000000000000000000" pitchFamily="2" charset="2"/>
              <a:buChar char="v"/>
            </a:pPr>
            <a:r>
              <a:rPr lang="en-US" dirty="0" smtClean="0"/>
              <a:t> </a:t>
            </a:r>
            <a:r>
              <a:rPr lang="en-US" dirty="0"/>
              <a:t>Never work alone because you may need help in case of emergency.  </a:t>
            </a:r>
            <a:endParaRPr lang="en-US" dirty="0" smtClean="0"/>
          </a:p>
          <a:p>
            <a:pPr>
              <a:buFont typeface="Wingdings" panose="05000000000000000000" pitchFamily="2" charset="2"/>
              <a:buChar char="v"/>
            </a:pPr>
            <a:r>
              <a:rPr lang="en-US" dirty="0" smtClean="0"/>
              <a:t>You </a:t>
            </a:r>
            <a:r>
              <a:rPr lang="en-US" dirty="0"/>
              <a:t>must discharge any static electricity that might have built in the hands by touching the earthed metallic object and then wearing an antistatic wrist member. The human body can hold 200 volts of static charge that can damage sensitive components on the mother bold. </a:t>
            </a:r>
          </a:p>
        </p:txBody>
      </p:sp>
    </p:spTree>
    <p:extLst>
      <p:ext uri="{BB962C8B-B14F-4D97-AF65-F5344CB8AC3E}">
        <p14:creationId xmlns:p14="http://schemas.microsoft.com/office/powerpoint/2010/main" val="20532348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80" y="390144"/>
            <a:ext cx="11289792" cy="1895855"/>
          </a:xfrm>
        </p:spPr>
        <p:txBody>
          <a:bodyPr>
            <a:normAutofit/>
          </a:bodyPr>
          <a:lstStyle/>
          <a:p>
            <a:r>
              <a:rPr lang="en-US" b="1" dirty="0"/>
              <a:t>Tools and other requirements when connecting computers </a:t>
            </a:r>
            <a:r>
              <a:rPr lang="en-US" b="1" dirty="0" smtClean="0"/>
              <a:t>hardware</a:t>
            </a:r>
            <a:endParaRPr lang="en-US" b="1" dirty="0"/>
          </a:p>
        </p:txBody>
      </p:sp>
      <p:sp>
        <p:nvSpPr>
          <p:cNvPr id="3" name="Content Placeholder 2"/>
          <p:cNvSpPr>
            <a:spLocks noGrp="1"/>
          </p:cNvSpPr>
          <p:nvPr>
            <p:ph idx="1"/>
          </p:nvPr>
        </p:nvSpPr>
        <p:spPr>
          <a:xfrm>
            <a:off x="829056" y="2556932"/>
            <a:ext cx="10546080" cy="3612220"/>
          </a:xfrm>
        </p:spPr>
        <p:txBody>
          <a:bodyPr/>
          <a:lstStyle/>
          <a:p>
            <a:pPr marL="0" indent="0">
              <a:buNone/>
            </a:pPr>
            <a:r>
              <a:rPr lang="en-US" dirty="0"/>
              <a:t>The tools required include: </a:t>
            </a:r>
          </a:p>
          <a:p>
            <a:r>
              <a:rPr lang="en-US" dirty="0" smtClean="0"/>
              <a:t> </a:t>
            </a:r>
            <a:r>
              <a:rPr lang="en-US" dirty="0"/>
              <a:t>Screw drivers  </a:t>
            </a:r>
            <a:endParaRPr lang="en-US" dirty="0" smtClean="0"/>
          </a:p>
          <a:p>
            <a:r>
              <a:rPr lang="en-US" dirty="0" smtClean="0"/>
              <a:t> </a:t>
            </a:r>
            <a:r>
              <a:rPr lang="en-US" dirty="0"/>
              <a:t>Antistatic wrist member  </a:t>
            </a:r>
            <a:endParaRPr lang="en-US" dirty="0" smtClean="0"/>
          </a:p>
          <a:p>
            <a:r>
              <a:rPr lang="en-US" dirty="0" smtClean="0"/>
              <a:t> </a:t>
            </a:r>
            <a:r>
              <a:rPr lang="en-US" dirty="0"/>
              <a:t>Pliers  </a:t>
            </a:r>
            <a:endParaRPr lang="en-US" dirty="0" smtClean="0"/>
          </a:p>
          <a:p>
            <a:r>
              <a:rPr lang="en-US" dirty="0" smtClean="0"/>
              <a:t>Device </a:t>
            </a:r>
            <a:r>
              <a:rPr lang="en-US" dirty="0"/>
              <a:t>manuals  </a:t>
            </a:r>
          </a:p>
          <a:p>
            <a:r>
              <a:rPr lang="en-US" dirty="0" smtClean="0"/>
              <a:t>Device </a:t>
            </a:r>
            <a:r>
              <a:rPr lang="en-US" dirty="0"/>
              <a:t>software ( drivers )</a:t>
            </a:r>
          </a:p>
        </p:txBody>
      </p:sp>
    </p:spTree>
    <p:extLst>
      <p:ext uri="{BB962C8B-B14F-4D97-AF65-F5344CB8AC3E}">
        <p14:creationId xmlns:p14="http://schemas.microsoft.com/office/powerpoint/2010/main" val="3689343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882" y="377953"/>
            <a:ext cx="9601196" cy="1133855"/>
          </a:xfrm>
        </p:spPr>
        <p:txBody>
          <a:bodyPr/>
          <a:lstStyle/>
          <a:p>
            <a:r>
              <a:rPr lang="en-US" b="1" dirty="0"/>
              <a:t>Mounting internal devices</a:t>
            </a:r>
          </a:p>
        </p:txBody>
      </p:sp>
      <p:sp>
        <p:nvSpPr>
          <p:cNvPr id="3" name="Content Placeholder 2"/>
          <p:cNvSpPr>
            <a:spLocks noGrp="1"/>
          </p:cNvSpPr>
          <p:nvPr>
            <p:ph idx="1"/>
          </p:nvPr>
        </p:nvSpPr>
        <p:spPr>
          <a:xfrm>
            <a:off x="633984" y="1511808"/>
            <a:ext cx="10777728" cy="4632960"/>
          </a:xfrm>
        </p:spPr>
        <p:txBody>
          <a:bodyPr>
            <a:normAutofit lnSpcReduction="10000"/>
          </a:bodyPr>
          <a:lstStyle/>
          <a:p>
            <a:r>
              <a:rPr lang="en-US" dirty="0"/>
              <a:t>External devices are connected to the motherboard through ports and internal devices are connected through SLOTS and  SOCKETS . study the device manual carefully before connecting the internal and external devices</a:t>
            </a:r>
            <a:r>
              <a:rPr lang="en-US" dirty="0" smtClean="0"/>
              <a:t>.</a:t>
            </a:r>
          </a:p>
          <a:p>
            <a:r>
              <a:rPr lang="en-US" dirty="0"/>
              <a:t>When connecting the internal components note the following; </a:t>
            </a:r>
            <a:endParaRPr lang="en-US" dirty="0" smtClean="0"/>
          </a:p>
          <a:p>
            <a:pPr>
              <a:buFont typeface="Wingdings" panose="05000000000000000000" pitchFamily="2" charset="2"/>
              <a:buChar char="v"/>
            </a:pPr>
            <a:r>
              <a:rPr lang="en-US" dirty="0" smtClean="0"/>
              <a:t> </a:t>
            </a:r>
            <a:r>
              <a:rPr lang="en-US" b="1" dirty="0"/>
              <a:t>Power supply </a:t>
            </a:r>
            <a:r>
              <a:rPr lang="en-US" dirty="0"/>
              <a:t>– it receives  AC  power from the wall socket and converts it to 12 volts DC power cables needed by computer components. </a:t>
            </a:r>
          </a:p>
          <a:p>
            <a:pPr>
              <a:buFont typeface="Wingdings" panose="05000000000000000000" pitchFamily="2" charset="2"/>
              <a:buChar char="v"/>
            </a:pPr>
            <a:r>
              <a:rPr lang="en-US" dirty="0" smtClean="0"/>
              <a:t> </a:t>
            </a:r>
            <a:r>
              <a:rPr lang="en-US" b="1" dirty="0"/>
              <a:t>Power cables </a:t>
            </a:r>
            <a:r>
              <a:rPr lang="en-US" dirty="0"/>
              <a:t>– provide power to system unit components.  </a:t>
            </a:r>
          </a:p>
          <a:p>
            <a:pPr>
              <a:buFont typeface="Wingdings" panose="05000000000000000000" pitchFamily="2" charset="2"/>
              <a:buChar char="v"/>
            </a:pPr>
            <a:r>
              <a:rPr lang="en-US" b="1" dirty="0" smtClean="0"/>
              <a:t>Optical </a:t>
            </a:r>
            <a:r>
              <a:rPr lang="en-US" b="1" dirty="0"/>
              <a:t>disk drive </a:t>
            </a:r>
            <a:r>
              <a:rPr lang="en-US" dirty="0"/>
              <a:t>– used to read / write data from  or to optical disk. </a:t>
            </a:r>
          </a:p>
          <a:p>
            <a:pPr>
              <a:buFont typeface="Wingdings" panose="05000000000000000000" pitchFamily="2" charset="2"/>
              <a:buChar char="v"/>
            </a:pPr>
            <a:r>
              <a:rPr lang="en-US" dirty="0" smtClean="0"/>
              <a:t> </a:t>
            </a:r>
            <a:r>
              <a:rPr lang="en-US" b="1" dirty="0"/>
              <a:t>Hard disk </a:t>
            </a:r>
            <a:r>
              <a:rPr lang="en-US" dirty="0"/>
              <a:t>– used to store computer programs and data for a long time. </a:t>
            </a:r>
          </a:p>
          <a:p>
            <a:pPr>
              <a:buFont typeface="Wingdings" panose="05000000000000000000" pitchFamily="2" charset="2"/>
              <a:buChar char="v"/>
            </a:pPr>
            <a:r>
              <a:rPr lang="en-US" b="1" dirty="0" smtClean="0"/>
              <a:t>Data  </a:t>
            </a:r>
            <a:r>
              <a:rPr lang="en-US" b="1" dirty="0"/>
              <a:t>cables </a:t>
            </a:r>
            <a:r>
              <a:rPr lang="en-US" dirty="0"/>
              <a:t>– enable exchange of data between components.</a:t>
            </a:r>
          </a:p>
        </p:txBody>
      </p:sp>
    </p:spTree>
    <p:extLst>
      <p:ext uri="{BB962C8B-B14F-4D97-AF65-F5344CB8AC3E}">
        <p14:creationId xmlns:p14="http://schemas.microsoft.com/office/powerpoint/2010/main" val="1236791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841248"/>
            <a:ext cx="10128501" cy="5034620"/>
          </a:xfrm>
        </p:spPr>
        <p:txBody>
          <a:bodyPr>
            <a:normAutofit/>
          </a:bodyPr>
          <a:lstStyle/>
          <a:p>
            <a:pPr>
              <a:buFont typeface="Wingdings" panose="05000000000000000000" pitchFamily="2" charset="2"/>
              <a:buChar char="v"/>
            </a:pPr>
            <a:r>
              <a:rPr lang="en-US" sz="2800" dirty="0" smtClean="0"/>
              <a:t> </a:t>
            </a:r>
            <a:r>
              <a:rPr lang="en-US" sz="2800" b="1" dirty="0"/>
              <a:t>Motherboard</a:t>
            </a:r>
            <a:r>
              <a:rPr lang="en-US" sz="2800" dirty="0"/>
              <a:t> – used to interconnect all devices, chips and components with copper circuit drawn on it.  </a:t>
            </a:r>
            <a:endParaRPr lang="en-US" sz="2800" dirty="0" smtClean="0"/>
          </a:p>
          <a:p>
            <a:pPr>
              <a:buFont typeface="Wingdings" panose="05000000000000000000" pitchFamily="2" charset="2"/>
              <a:buChar char="v"/>
            </a:pPr>
            <a:r>
              <a:rPr lang="en-US" sz="2800" dirty="0" smtClean="0"/>
              <a:t> </a:t>
            </a:r>
            <a:r>
              <a:rPr lang="en-US" sz="2800" b="1" dirty="0"/>
              <a:t>Expansion lots </a:t>
            </a:r>
            <a:r>
              <a:rPr lang="en-US" sz="2800" dirty="0"/>
              <a:t>– helps when adding new device to the computer such as TV card, network card </a:t>
            </a:r>
            <a:r>
              <a:rPr lang="en-US" sz="2800" dirty="0" err="1"/>
              <a:t>E.t.c</a:t>
            </a:r>
            <a:r>
              <a:rPr lang="en-US" sz="2800" dirty="0"/>
              <a:t> </a:t>
            </a:r>
            <a:endParaRPr lang="en-US" sz="2800" dirty="0" smtClean="0"/>
          </a:p>
          <a:p>
            <a:pPr>
              <a:buFont typeface="Wingdings" panose="05000000000000000000" pitchFamily="2" charset="2"/>
              <a:buChar char="v"/>
            </a:pPr>
            <a:r>
              <a:rPr lang="en-US" sz="2800" dirty="0" smtClean="0"/>
              <a:t> </a:t>
            </a:r>
            <a:r>
              <a:rPr lang="en-US" sz="2800" b="1" dirty="0"/>
              <a:t>Interface ports </a:t>
            </a:r>
            <a:r>
              <a:rPr lang="en-US" sz="2800" dirty="0"/>
              <a:t>– enables connection of peripheral devices such as mouse, keyboard  </a:t>
            </a:r>
            <a:r>
              <a:rPr lang="en-US" sz="2800" dirty="0" err="1"/>
              <a:t>e.t.c</a:t>
            </a:r>
            <a:r>
              <a:rPr lang="en-US" sz="2800" dirty="0"/>
              <a:t>  </a:t>
            </a:r>
          </a:p>
          <a:p>
            <a:pPr>
              <a:buFont typeface="Wingdings" panose="05000000000000000000" pitchFamily="2" charset="2"/>
              <a:buChar char="v"/>
            </a:pPr>
            <a:r>
              <a:rPr lang="en-US" sz="2800" b="1" dirty="0" smtClean="0"/>
              <a:t>Memory </a:t>
            </a:r>
            <a:r>
              <a:rPr lang="en-US" sz="2800" b="1" dirty="0"/>
              <a:t>slots </a:t>
            </a:r>
            <a:r>
              <a:rPr lang="en-US" sz="2800" dirty="0"/>
              <a:t>– enables installation of RAM chips on the motherboard.  </a:t>
            </a:r>
          </a:p>
          <a:p>
            <a:pPr>
              <a:buFont typeface="Wingdings" panose="05000000000000000000" pitchFamily="2" charset="2"/>
              <a:buChar char="v"/>
            </a:pPr>
            <a:r>
              <a:rPr lang="en-US" sz="2800" b="1" dirty="0" smtClean="0"/>
              <a:t>Chips</a:t>
            </a:r>
            <a:r>
              <a:rPr lang="en-US" sz="2800" dirty="0" smtClean="0"/>
              <a:t> </a:t>
            </a:r>
            <a:r>
              <a:rPr lang="en-US" sz="2800" dirty="0"/>
              <a:t>– have processing logic and firmware needed for correcting functioning of the </a:t>
            </a:r>
            <a:r>
              <a:rPr lang="en-US" sz="2800" dirty="0" smtClean="0"/>
              <a:t>computer</a:t>
            </a:r>
            <a:endParaRPr lang="en-US" sz="2800" dirty="0"/>
          </a:p>
        </p:txBody>
      </p:sp>
    </p:spTree>
    <p:extLst>
      <p:ext uri="{BB962C8B-B14F-4D97-AF65-F5344CB8AC3E}">
        <p14:creationId xmlns:p14="http://schemas.microsoft.com/office/powerpoint/2010/main" val="1679308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673" y="689524"/>
            <a:ext cx="9710923" cy="1303867"/>
          </a:xfrm>
        </p:spPr>
        <p:txBody>
          <a:bodyPr/>
          <a:lstStyle/>
          <a:p>
            <a:r>
              <a:rPr lang="en-US" b="1" dirty="0"/>
              <a:t>Mounting hard drives and optical drives </a:t>
            </a:r>
          </a:p>
        </p:txBody>
      </p:sp>
      <p:sp>
        <p:nvSpPr>
          <p:cNvPr id="3" name="Content Placeholder 2"/>
          <p:cNvSpPr>
            <a:spLocks noGrp="1"/>
          </p:cNvSpPr>
          <p:nvPr>
            <p:ph idx="1"/>
          </p:nvPr>
        </p:nvSpPr>
        <p:spPr>
          <a:xfrm>
            <a:off x="792480" y="1780032"/>
            <a:ext cx="10521696" cy="4352544"/>
          </a:xfrm>
        </p:spPr>
        <p:txBody>
          <a:bodyPr/>
          <a:lstStyle/>
          <a:p>
            <a:r>
              <a:rPr lang="en-US" sz="2800" dirty="0"/>
              <a:t>Special ribbon cables are used to correct computer components on the motherboard. Hard disk and optical drive are connected on the motherboard through interface connectors referred to as </a:t>
            </a:r>
            <a:r>
              <a:rPr lang="en-US" sz="2800" b="1" dirty="0"/>
              <a:t>controllers. </a:t>
            </a:r>
            <a:endParaRPr lang="en-US" sz="2800" b="1" dirty="0" smtClean="0"/>
          </a:p>
          <a:p>
            <a:pPr marL="0" indent="0">
              <a:buNone/>
            </a:pPr>
            <a:r>
              <a:rPr lang="en-US" sz="2800" b="1" dirty="0"/>
              <a:t> Types of controllers  </a:t>
            </a:r>
          </a:p>
          <a:p>
            <a:r>
              <a:rPr lang="en-US" sz="2800" dirty="0" smtClean="0"/>
              <a:t> </a:t>
            </a:r>
            <a:r>
              <a:rPr lang="en-US" sz="2800" dirty="0"/>
              <a:t>Enhancement Integrated Drive Electronic (EIDE).  </a:t>
            </a:r>
            <a:endParaRPr lang="en-US" sz="2800" dirty="0" smtClean="0"/>
          </a:p>
          <a:p>
            <a:r>
              <a:rPr lang="en-US" sz="2800" dirty="0" smtClean="0"/>
              <a:t>Serial </a:t>
            </a:r>
            <a:r>
              <a:rPr lang="en-US" sz="2800" dirty="0"/>
              <a:t>advanced Technology Attached (SATA</a:t>
            </a:r>
            <a:r>
              <a:rPr lang="en-US" sz="2800" dirty="0" smtClean="0"/>
              <a:t>).</a:t>
            </a:r>
          </a:p>
          <a:p>
            <a:r>
              <a:rPr lang="en-US" sz="2800" dirty="0"/>
              <a:t>Small Computer System Interface (SCSI)</a:t>
            </a:r>
          </a:p>
        </p:txBody>
      </p:sp>
    </p:spTree>
    <p:extLst>
      <p:ext uri="{BB962C8B-B14F-4D97-AF65-F5344CB8AC3E}">
        <p14:creationId xmlns:p14="http://schemas.microsoft.com/office/powerpoint/2010/main" val="2607284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1194816"/>
            <a:ext cx="10043157" cy="4681052"/>
          </a:xfrm>
        </p:spPr>
        <p:txBody>
          <a:bodyPr>
            <a:normAutofit/>
          </a:bodyPr>
          <a:lstStyle/>
          <a:p>
            <a:r>
              <a:rPr lang="en-US" sz="3200" dirty="0"/>
              <a:t>NB: </a:t>
            </a:r>
            <a:r>
              <a:rPr lang="en-US" sz="3200" b="1" dirty="0"/>
              <a:t>SATA </a:t>
            </a:r>
            <a:r>
              <a:rPr lang="en-US" sz="3200" dirty="0"/>
              <a:t>has replaced </a:t>
            </a:r>
            <a:r>
              <a:rPr lang="en-US" sz="3200" b="1" dirty="0"/>
              <a:t>EIDE</a:t>
            </a:r>
            <a:r>
              <a:rPr lang="en-US" sz="3200" dirty="0"/>
              <a:t>, </a:t>
            </a:r>
            <a:r>
              <a:rPr lang="en-US" sz="3200" b="1" dirty="0"/>
              <a:t>ATA</a:t>
            </a:r>
            <a:r>
              <a:rPr lang="en-US" sz="3200" dirty="0"/>
              <a:t> and </a:t>
            </a:r>
            <a:r>
              <a:rPr lang="en-US" sz="3200" b="1" dirty="0"/>
              <a:t>PATA</a:t>
            </a:r>
            <a:r>
              <a:rPr lang="en-US" sz="3200" dirty="0"/>
              <a:t>. </a:t>
            </a:r>
            <a:r>
              <a:rPr lang="en-US" sz="3200" b="1" dirty="0"/>
              <a:t>SATA</a:t>
            </a:r>
            <a:r>
              <a:rPr lang="en-US" sz="3200" dirty="0"/>
              <a:t> is more efficient and support </a:t>
            </a:r>
            <a:r>
              <a:rPr lang="en-US" sz="3200" dirty="0" err="1"/>
              <a:t>hotswapping</a:t>
            </a:r>
            <a:r>
              <a:rPr lang="en-US" sz="3200" dirty="0"/>
              <a:t>. Hot-swapping means that the drive can be removed or inserted while the computer is still on. </a:t>
            </a:r>
            <a:r>
              <a:rPr lang="en-US" sz="3200" b="1" dirty="0"/>
              <a:t>SATA</a:t>
            </a:r>
            <a:r>
              <a:rPr lang="en-US" sz="3200" dirty="0"/>
              <a:t> and </a:t>
            </a:r>
            <a:r>
              <a:rPr lang="en-US" sz="3200" b="1" dirty="0"/>
              <a:t>EIDE</a:t>
            </a:r>
            <a:r>
              <a:rPr lang="en-US" sz="3200" dirty="0"/>
              <a:t> are the common controllers used in most computers.</a:t>
            </a:r>
          </a:p>
        </p:txBody>
      </p:sp>
    </p:spTree>
    <p:extLst>
      <p:ext uri="{BB962C8B-B14F-4D97-AF65-F5344CB8AC3E}">
        <p14:creationId xmlns:p14="http://schemas.microsoft.com/office/powerpoint/2010/main" val="2686867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024" y="677332"/>
            <a:ext cx="10924032" cy="1303867"/>
          </a:xfrm>
        </p:spPr>
        <p:txBody>
          <a:bodyPr>
            <a:normAutofit fontScale="90000"/>
          </a:bodyPr>
          <a:lstStyle/>
          <a:p>
            <a:r>
              <a:rPr lang="en-US" dirty="0"/>
              <a:t>Steps to be followed when mounting an EIDE or SATA Hard drive. </a:t>
            </a:r>
          </a:p>
        </p:txBody>
      </p:sp>
      <p:sp>
        <p:nvSpPr>
          <p:cNvPr id="3" name="Content Placeholder 2"/>
          <p:cNvSpPr>
            <a:spLocks noGrp="1"/>
          </p:cNvSpPr>
          <p:nvPr>
            <p:ph idx="1"/>
          </p:nvPr>
        </p:nvSpPr>
        <p:spPr>
          <a:xfrm>
            <a:off x="573024" y="1981199"/>
            <a:ext cx="10924032" cy="4285489"/>
          </a:xfrm>
        </p:spPr>
        <p:txBody>
          <a:bodyPr>
            <a:normAutofit fontScale="85000" lnSpcReduction="20000"/>
          </a:bodyPr>
          <a:lstStyle/>
          <a:p>
            <a:pPr marL="0" indent="0">
              <a:buNone/>
            </a:pPr>
            <a:r>
              <a:rPr lang="en-US" dirty="0" smtClean="0"/>
              <a:t>To </a:t>
            </a:r>
            <a:r>
              <a:rPr lang="en-US" dirty="0"/>
              <a:t>mount and EIDE or SATA Hard drive proceeds as follows; </a:t>
            </a:r>
          </a:p>
          <a:p>
            <a:pPr marL="0" indent="0">
              <a:buNone/>
            </a:pPr>
            <a:r>
              <a:rPr lang="en-US" dirty="0"/>
              <a:t>➢ Wear antistatic wrist member to discharge any static charge  on the body  </a:t>
            </a:r>
            <a:endParaRPr lang="en-US" dirty="0" smtClean="0"/>
          </a:p>
          <a:p>
            <a:pPr marL="0" indent="0">
              <a:buNone/>
            </a:pPr>
            <a:r>
              <a:rPr lang="en-US" dirty="0" smtClean="0"/>
              <a:t>➢ </a:t>
            </a:r>
            <a:r>
              <a:rPr lang="en-US" dirty="0"/>
              <a:t>Determine which drive will be master and use the drive information to determine which jumper settings to use for a master or a </a:t>
            </a:r>
            <a:r>
              <a:rPr lang="en-US" dirty="0" smtClean="0"/>
              <a:t>slave</a:t>
            </a:r>
          </a:p>
          <a:p>
            <a:pPr marL="0" indent="0">
              <a:buNone/>
            </a:pPr>
            <a:r>
              <a:rPr lang="en-US" dirty="0" smtClean="0"/>
              <a:t>➢ </a:t>
            </a:r>
            <a:r>
              <a:rPr lang="en-US" dirty="0"/>
              <a:t>Check that a free drive bay is available, slide a drive into the bay and screw it into place. </a:t>
            </a:r>
            <a:endParaRPr lang="en-US" dirty="0" smtClean="0"/>
          </a:p>
          <a:p>
            <a:pPr marL="0" indent="0">
              <a:buNone/>
            </a:pPr>
            <a:r>
              <a:rPr lang="en-US" dirty="0" smtClean="0"/>
              <a:t>➢ </a:t>
            </a:r>
            <a:r>
              <a:rPr lang="en-US" dirty="0"/>
              <a:t>Ensure that there is a free power connector from the power supply unit and connect it to the drive. Notice that it is designed to fit in its socket in only one direction. </a:t>
            </a:r>
            <a:endParaRPr lang="en-US" dirty="0" smtClean="0"/>
          </a:p>
          <a:p>
            <a:pPr marL="0" indent="0">
              <a:buNone/>
            </a:pPr>
            <a:r>
              <a:rPr lang="en-US" dirty="0" smtClean="0"/>
              <a:t> </a:t>
            </a:r>
            <a:r>
              <a:rPr lang="en-US" dirty="0"/>
              <a:t>➢ Identify pin 1 as labeled on the drives socket and match it with the red or brown continuous line of the ribbon cable. Most cables will only fit in one direction. </a:t>
            </a:r>
            <a:endParaRPr lang="en-US" dirty="0" smtClean="0"/>
          </a:p>
          <a:p>
            <a:pPr marL="0" indent="0">
              <a:buNone/>
            </a:pPr>
            <a:r>
              <a:rPr lang="en-US" dirty="0" smtClean="0"/>
              <a:t>➢ </a:t>
            </a:r>
            <a:r>
              <a:rPr lang="en-US" dirty="0"/>
              <a:t>Connect the interface cable to the drive, then into the controller slot on the motherboard. </a:t>
            </a:r>
            <a:endParaRPr lang="en-US" dirty="0" smtClean="0"/>
          </a:p>
          <a:p>
            <a:pPr marL="0" indent="0">
              <a:buNone/>
            </a:pPr>
            <a:r>
              <a:rPr lang="en-US" dirty="0" smtClean="0"/>
              <a:t>➢ </a:t>
            </a:r>
            <a:r>
              <a:rPr lang="en-US" dirty="0"/>
              <a:t>If installation is complete replace the casting cover. </a:t>
            </a:r>
            <a:endParaRPr lang="en-US" dirty="0" smtClean="0"/>
          </a:p>
          <a:p>
            <a:pPr marL="0" indent="0">
              <a:buNone/>
            </a:pPr>
            <a:r>
              <a:rPr lang="en-US" dirty="0" smtClean="0"/>
              <a:t>➢ </a:t>
            </a:r>
            <a:r>
              <a:rPr lang="en-US" dirty="0"/>
              <a:t>If installation is complete replace the casing cove</a:t>
            </a:r>
          </a:p>
        </p:txBody>
      </p:sp>
    </p:spTree>
    <p:extLst>
      <p:ext uri="{BB962C8B-B14F-4D97-AF65-F5344CB8AC3E}">
        <p14:creationId xmlns:p14="http://schemas.microsoft.com/office/powerpoint/2010/main" val="3658209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Installation floppy drives</a:t>
            </a:r>
          </a:p>
        </p:txBody>
      </p:sp>
      <p:sp>
        <p:nvSpPr>
          <p:cNvPr id="3" name="Content Placeholder 2"/>
          <p:cNvSpPr>
            <a:spLocks noGrp="1"/>
          </p:cNvSpPr>
          <p:nvPr>
            <p:ph idx="1"/>
          </p:nvPr>
        </p:nvSpPr>
        <p:spPr/>
        <p:txBody>
          <a:bodyPr/>
          <a:lstStyle/>
          <a:p>
            <a:r>
              <a:rPr lang="en-US" dirty="0"/>
              <a:t>Floppy drives are installed the same way the EIDE drives but floppy drives have no master or slave configuration. It is possible to attach two floppy drives on the ribbon cable and one floppy drive will automatically be assigned by letter A and the other on the motherboard will be assigned by letter B </a:t>
            </a:r>
          </a:p>
        </p:txBody>
      </p:sp>
    </p:spTree>
    <p:extLst>
      <p:ext uri="{BB962C8B-B14F-4D97-AF65-F5344CB8AC3E}">
        <p14:creationId xmlns:p14="http://schemas.microsoft.com/office/powerpoint/2010/main" val="4145628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482" y="48767"/>
            <a:ext cx="9601196" cy="1365505"/>
          </a:xfrm>
        </p:spPr>
        <p:txBody>
          <a:bodyPr/>
          <a:lstStyle/>
          <a:p>
            <a:r>
              <a:rPr lang="en-US" b="1" dirty="0"/>
              <a:t>Connecting external devices </a:t>
            </a:r>
          </a:p>
        </p:txBody>
      </p:sp>
      <p:sp>
        <p:nvSpPr>
          <p:cNvPr id="3" name="Content Placeholder 2"/>
          <p:cNvSpPr>
            <a:spLocks noGrp="1"/>
          </p:cNvSpPr>
          <p:nvPr>
            <p:ph idx="1"/>
          </p:nvPr>
        </p:nvSpPr>
        <p:spPr>
          <a:xfrm>
            <a:off x="658368" y="1414272"/>
            <a:ext cx="10814304" cy="4754880"/>
          </a:xfrm>
        </p:spPr>
        <p:txBody>
          <a:bodyPr/>
          <a:lstStyle/>
          <a:p>
            <a:pPr marL="0" indent="0">
              <a:buNone/>
            </a:pPr>
            <a:r>
              <a:rPr lang="en-US" dirty="0"/>
              <a:t>You must check the port and interface cable of the device being connected to the computer system. When connecting external device proceed as follows;  </a:t>
            </a:r>
          </a:p>
          <a:p>
            <a:r>
              <a:rPr lang="en-US" sz="2800" dirty="0"/>
              <a:t>Gently and carefully connect the interface cable of each device to the correct port and to the device if it is not already fixed permanently. </a:t>
            </a:r>
          </a:p>
          <a:p>
            <a:r>
              <a:rPr lang="en-US" sz="2800" dirty="0"/>
              <a:t>Connect the computer to the power source and switch it on.  </a:t>
            </a:r>
          </a:p>
          <a:p>
            <a:r>
              <a:rPr lang="en-US" sz="2800" dirty="0"/>
              <a:t>Observe boot up information on the screen to see whether power On – Self Test (post) display any error message. </a:t>
            </a:r>
          </a:p>
          <a:p>
            <a:r>
              <a:rPr lang="en-US" sz="2800" dirty="0"/>
              <a:t>A successful boot means that the computer was properly set up. Then it also means that new programs must be installed in the hard disk drive.</a:t>
            </a:r>
          </a:p>
        </p:txBody>
      </p:sp>
    </p:spTree>
    <p:extLst>
      <p:ext uri="{BB962C8B-B14F-4D97-AF65-F5344CB8AC3E}">
        <p14:creationId xmlns:p14="http://schemas.microsoft.com/office/powerpoint/2010/main" val="1222128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7866" y="640757"/>
            <a:ext cx="9601196" cy="907628"/>
          </a:xfrm>
        </p:spPr>
        <p:txBody>
          <a:bodyPr/>
          <a:lstStyle/>
          <a:p>
            <a:r>
              <a:rPr lang="en-US" b="1" dirty="0"/>
              <a:t>Device </a:t>
            </a:r>
            <a:r>
              <a:rPr lang="en-US" b="1" dirty="0" smtClean="0"/>
              <a:t>Management</a:t>
            </a:r>
            <a:endParaRPr lang="en-US" b="1" dirty="0"/>
          </a:p>
        </p:txBody>
      </p:sp>
      <p:sp>
        <p:nvSpPr>
          <p:cNvPr id="3" name="Content Placeholder 2"/>
          <p:cNvSpPr>
            <a:spLocks noGrp="1"/>
          </p:cNvSpPr>
          <p:nvPr>
            <p:ph idx="1"/>
          </p:nvPr>
        </p:nvSpPr>
        <p:spPr>
          <a:xfrm>
            <a:off x="926592" y="2377440"/>
            <a:ext cx="10485120" cy="3681984"/>
          </a:xfrm>
        </p:spPr>
        <p:txBody>
          <a:bodyPr>
            <a:normAutofit/>
          </a:bodyPr>
          <a:lstStyle/>
          <a:p>
            <a:pPr>
              <a:buFont typeface="Wingdings" panose="05000000000000000000" pitchFamily="2" charset="2"/>
              <a:buChar char="q"/>
            </a:pPr>
            <a:r>
              <a:rPr lang="en-US" sz="3200" dirty="0"/>
              <a:t>Hardware and software have to be configured for easy management using system information. </a:t>
            </a:r>
            <a:endParaRPr lang="en-US" sz="3200" dirty="0" smtClean="0"/>
          </a:p>
          <a:p>
            <a:pPr>
              <a:buFont typeface="Wingdings" panose="05000000000000000000" pitchFamily="2" charset="2"/>
              <a:buChar char="q"/>
            </a:pPr>
            <a:r>
              <a:rPr lang="en-US" sz="3200" dirty="0" smtClean="0"/>
              <a:t>System </a:t>
            </a:r>
            <a:r>
              <a:rPr lang="en-US" sz="3200" dirty="0"/>
              <a:t>Information refers to Hardware and software configurations of a computer</a:t>
            </a:r>
          </a:p>
        </p:txBody>
      </p:sp>
    </p:spTree>
    <p:extLst>
      <p:ext uri="{BB962C8B-B14F-4D97-AF65-F5344CB8AC3E}">
        <p14:creationId xmlns:p14="http://schemas.microsoft.com/office/powerpoint/2010/main" val="2074023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2794" y="616373"/>
            <a:ext cx="9601196" cy="919820"/>
          </a:xfrm>
        </p:spPr>
        <p:txBody>
          <a:bodyPr/>
          <a:lstStyle/>
          <a:p>
            <a:r>
              <a:rPr lang="en-US" b="1" dirty="0"/>
              <a:t>System information</a:t>
            </a:r>
          </a:p>
        </p:txBody>
      </p:sp>
      <p:sp>
        <p:nvSpPr>
          <p:cNvPr id="3" name="Content Placeholder 2"/>
          <p:cNvSpPr>
            <a:spLocks noGrp="1"/>
          </p:cNvSpPr>
          <p:nvPr>
            <p:ph idx="1"/>
          </p:nvPr>
        </p:nvSpPr>
        <p:spPr>
          <a:xfrm>
            <a:off x="682752" y="1694688"/>
            <a:ext cx="10826496" cy="4401312"/>
          </a:xfrm>
        </p:spPr>
        <p:txBody>
          <a:bodyPr/>
          <a:lstStyle/>
          <a:p>
            <a:pPr marL="0" indent="0">
              <a:buNone/>
            </a:pPr>
            <a:r>
              <a:rPr lang="en-US" dirty="0"/>
              <a:t>System information is not limited to the following; </a:t>
            </a:r>
          </a:p>
          <a:p>
            <a:pPr>
              <a:buFont typeface="Wingdings" panose="05000000000000000000" pitchFamily="2" charset="2"/>
              <a:buChar char="ü"/>
            </a:pPr>
            <a:r>
              <a:rPr lang="en-US" dirty="0" smtClean="0"/>
              <a:t> </a:t>
            </a:r>
            <a:r>
              <a:rPr lang="en-US" dirty="0"/>
              <a:t>The hardware device present on the computer including used space and empty </a:t>
            </a:r>
            <a:r>
              <a:rPr lang="en-US" dirty="0" smtClean="0"/>
              <a:t>space.</a:t>
            </a:r>
          </a:p>
          <a:p>
            <a:pPr>
              <a:buFont typeface="Wingdings" panose="05000000000000000000" pitchFamily="2" charset="2"/>
              <a:buChar char="ü"/>
            </a:pPr>
            <a:r>
              <a:rPr lang="en-US" dirty="0" smtClean="0"/>
              <a:t>The </a:t>
            </a:r>
            <a:r>
              <a:rPr lang="en-US" dirty="0"/>
              <a:t>type of processor on the computer and its speed. </a:t>
            </a:r>
          </a:p>
          <a:p>
            <a:pPr>
              <a:buFont typeface="Wingdings" panose="05000000000000000000" pitchFamily="2" charset="2"/>
              <a:buChar char="ü"/>
            </a:pPr>
            <a:r>
              <a:rPr lang="en-US" dirty="0" smtClean="0"/>
              <a:t>The </a:t>
            </a:r>
            <a:r>
              <a:rPr lang="en-US" dirty="0"/>
              <a:t>Random Access Memory (RAM) installed on the computer and its size</a:t>
            </a:r>
            <a:r>
              <a:rPr lang="en-US" dirty="0" smtClean="0"/>
              <a:t>.</a:t>
            </a:r>
          </a:p>
          <a:p>
            <a:pPr>
              <a:buFont typeface="Wingdings" panose="05000000000000000000" pitchFamily="2" charset="2"/>
              <a:buChar char="ü"/>
            </a:pPr>
            <a:r>
              <a:rPr lang="en-US" dirty="0" smtClean="0"/>
              <a:t> </a:t>
            </a:r>
            <a:r>
              <a:rPr lang="en-US" dirty="0"/>
              <a:t>The width of the system bus. </a:t>
            </a:r>
          </a:p>
          <a:p>
            <a:pPr>
              <a:buFont typeface="Wingdings" panose="05000000000000000000" pitchFamily="2" charset="2"/>
              <a:buChar char="ü"/>
            </a:pPr>
            <a:r>
              <a:rPr lang="en-US" dirty="0" smtClean="0"/>
              <a:t>The </a:t>
            </a:r>
            <a:r>
              <a:rPr lang="en-US" dirty="0"/>
              <a:t>size of the hard disk on the computer including used space and empty space. </a:t>
            </a:r>
          </a:p>
          <a:p>
            <a:pPr>
              <a:buFont typeface="Wingdings" panose="05000000000000000000" pitchFamily="2" charset="2"/>
              <a:buChar char="ü"/>
            </a:pPr>
            <a:r>
              <a:rPr lang="en-US" dirty="0" smtClean="0"/>
              <a:t>The </a:t>
            </a:r>
            <a:r>
              <a:rPr lang="en-US" dirty="0"/>
              <a:t>type of operating system installed </a:t>
            </a:r>
          </a:p>
        </p:txBody>
      </p:sp>
    </p:spTree>
    <p:extLst>
      <p:ext uri="{BB962C8B-B14F-4D97-AF65-F5344CB8AC3E}">
        <p14:creationId xmlns:p14="http://schemas.microsoft.com/office/powerpoint/2010/main" val="39510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714" y="677333"/>
            <a:ext cx="9601196" cy="992972"/>
          </a:xfrm>
        </p:spPr>
        <p:txBody>
          <a:bodyPr/>
          <a:lstStyle/>
          <a:p>
            <a:r>
              <a:rPr lang="en-US" b="1" dirty="0"/>
              <a:t>Checking system </a:t>
            </a:r>
            <a:r>
              <a:rPr lang="en-US" b="1" dirty="0" smtClean="0"/>
              <a:t>information</a:t>
            </a:r>
            <a:endParaRPr lang="en-US" b="1" dirty="0"/>
          </a:p>
        </p:txBody>
      </p:sp>
      <p:sp>
        <p:nvSpPr>
          <p:cNvPr id="3" name="Content Placeholder 2"/>
          <p:cNvSpPr>
            <a:spLocks noGrp="1"/>
          </p:cNvSpPr>
          <p:nvPr>
            <p:ph idx="1"/>
          </p:nvPr>
        </p:nvSpPr>
        <p:spPr>
          <a:xfrm>
            <a:off x="719328" y="1670305"/>
            <a:ext cx="10668000" cy="4413503"/>
          </a:xfrm>
        </p:spPr>
        <p:txBody>
          <a:bodyPr/>
          <a:lstStyle/>
          <a:p>
            <a:pPr marL="0" indent="0">
              <a:buNone/>
            </a:pPr>
            <a:r>
              <a:rPr lang="en-US" sz="2800" dirty="0"/>
              <a:t>Following the steps below; </a:t>
            </a:r>
          </a:p>
          <a:p>
            <a:pPr marL="0" indent="0">
              <a:buNone/>
            </a:pPr>
            <a:r>
              <a:rPr lang="en-US" sz="2800" dirty="0"/>
              <a:t>➢ Click start then select control panel. </a:t>
            </a:r>
            <a:endParaRPr lang="en-US" sz="2800" dirty="0" smtClean="0"/>
          </a:p>
          <a:p>
            <a:pPr marL="0" indent="0">
              <a:buNone/>
            </a:pPr>
            <a:r>
              <a:rPr lang="en-US" sz="2800" dirty="0" smtClean="0"/>
              <a:t>➢In </a:t>
            </a:r>
            <a:r>
              <a:rPr lang="en-US" sz="2800" dirty="0"/>
              <a:t>the control panel windows, click system.  </a:t>
            </a:r>
            <a:endParaRPr lang="en-US" sz="2800" dirty="0" smtClean="0"/>
          </a:p>
          <a:p>
            <a:pPr marL="0" indent="0">
              <a:buNone/>
            </a:pPr>
            <a:r>
              <a:rPr lang="en-US" sz="2800" dirty="0" smtClean="0"/>
              <a:t>➢ </a:t>
            </a:r>
            <a:r>
              <a:rPr lang="en-US" sz="2800" dirty="0"/>
              <a:t>The system windows open as shown below</a:t>
            </a:r>
            <a:r>
              <a:rPr lang="en-US" sz="2800" dirty="0" smtClean="0"/>
              <a:t>.</a:t>
            </a:r>
          </a:p>
          <a:p>
            <a:pPr marL="0" indent="0">
              <a:buNone/>
            </a:pPr>
            <a:endParaRPr lang="en-US" dirty="0" smtClean="0"/>
          </a:p>
        </p:txBody>
      </p:sp>
    </p:spTree>
    <p:extLst>
      <p:ext uri="{BB962C8B-B14F-4D97-AF65-F5344CB8AC3E}">
        <p14:creationId xmlns:p14="http://schemas.microsoft.com/office/powerpoint/2010/main" val="2428085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ystem"/>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4672" y="658369"/>
            <a:ext cx="10497312" cy="5413248"/>
          </a:xfrm>
          <a:prstGeom prst="rect">
            <a:avLst/>
          </a:prstGeom>
        </p:spPr>
      </p:pic>
    </p:spTree>
    <p:extLst>
      <p:ext uri="{BB962C8B-B14F-4D97-AF65-F5344CB8AC3E}">
        <p14:creationId xmlns:p14="http://schemas.microsoft.com/office/powerpoint/2010/main" val="1602888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0016" y="975360"/>
            <a:ext cx="10006581" cy="4900508"/>
          </a:xfrm>
        </p:spPr>
        <p:txBody>
          <a:bodyPr/>
          <a:lstStyle/>
          <a:p>
            <a:pPr marL="0" indent="0">
              <a:buNone/>
            </a:pPr>
            <a:r>
              <a:rPr lang="en-US" dirty="0"/>
              <a:t>Alternatively you can go to  </a:t>
            </a:r>
          </a:p>
          <a:p>
            <a:r>
              <a:rPr lang="en-US" dirty="0"/>
              <a:t>- </a:t>
            </a:r>
            <a:r>
              <a:rPr lang="en-US" dirty="0" smtClean="0"/>
              <a:t>This PC in windows 10 </a:t>
            </a:r>
            <a:r>
              <a:rPr lang="en-US" dirty="0"/>
              <a:t>environment</a:t>
            </a:r>
            <a:r>
              <a:rPr lang="en-US" dirty="0" smtClean="0"/>
              <a:t>  </a:t>
            </a:r>
            <a:endParaRPr lang="en-US" dirty="0"/>
          </a:p>
          <a:p>
            <a:r>
              <a:rPr lang="en-US" dirty="0" smtClean="0"/>
              <a:t>right </a:t>
            </a:r>
            <a:r>
              <a:rPr lang="en-US" dirty="0"/>
              <a:t>click any where </a:t>
            </a:r>
          </a:p>
          <a:p>
            <a:r>
              <a:rPr lang="en-US" dirty="0" smtClean="0"/>
              <a:t>click </a:t>
            </a:r>
            <a:r>
              <a:rPr lang="en-US" dirty="0"/>
              <a:t>on properties  </a:t>
            </a:r>
            <a:r>
              <a:rPr lang="en-US" dirty="0" smtClean="0"/>
              <a:t>showing </a:t>
            </a:r>
            <a:r>
              <a:rPr lang="en-US" dirty="0"/>
              <a:t>system information. </a:t>
            </a:r>
          </a:p>
        </p:txBody>
      </p:sp>
    </p:spTree>
    <p:extLst>
      <p:ext uri="{BB962C8B-B14F-4D97-AF65-F5344CB8AC3E}">
        <p14:creationId xmlns:p14="http://schemas.microsoft.com/office/powerpoint/2010/main" val="3910650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CHECKING THE HARD DISK SIZE  </a:t>
            </a:r>
            <a:r>
              <a:rPr lang="en-US" dirty="0"/>
              <a:t/>
            </a:r>
            <a:br>
              <a:rPr lang="en-US" dirty="0"/>
            </a:br>
            <a:endParaRPr lang="en-US" dirty="0"/>
          </a:p>
        </p:txBody>
      </p:sp>
      <p:sp>
        <p:nvSpPr>
          <p:cNvPr id="3" name="Content Placeholder 2"/>
          <p:cNvSpPr>
            <a:spLocks noGrp="1"/>
          </p:cNvSpPr>
          <p:nvPr>
            <p:ph idx="1"/>
          </p:nvPr>
        </p:nvSpPr>
        <p:spPr>
          <a:xfrm>
            <a:off x="1024128" y="2556932"/>
            <a:ext cx="9872469" cy="3478108"/>
          </a:xfrm>
        </p:spPr>
        <p:txBody>
          <a:bodyPr/>
          <a:lstStyle/>
          <a:p>
            <a:r>
              <a:rPr lang="en-US" dirty="0" smtClean="0"/>
              <a:t>To </a:t>
            </a:r>
            <a:r>
              <a:rPr lang="en-US" dirty="0"/>
              <a:t>check hard disk sizes do the following; </a:t>
            </a:r>
          </a:p>
          <a:p>
            <a:r>
              <a:rPr lang="en-US" dirty="0"/>
              <a:t>➢ Double click  my computer icon on the desktop </a:t>
            </a:r>
            <a:endParaRPr lang="en-US" dirty="0" smtClean="0"/>
          </a:p>
          <a:p>
            <a:r>
              <a:rPr lang="en-US" dirty="0" smtClean="0"/>
              <a:t>➢ </a:t>
            </a:r>
            <a:r>
              <a:rPr lang="en-US" dirty="0"/>
              <a:t>In my computer window, right click the icon associated to your hard disk (s) and then select properties. Check the details shown below;</a:t>
            </a:r>
          </a:p>
        </p:txBody>
      </p:sp>
    </p:spTree>
    <p:extLst>
      <p:ext uri="{BB962C8B-B14F-4D97-AF65-F5344CB8AC3E}">
        <p14:creationId xmlns:p14="http://schemas.microsoft.com/office/powerpoint/2010/main" val="266520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Importance of checking system properties</a:t>
            </a:r>
          </a:p>
        </p:txBody>
      </p:sp>
      <p:sp>
        <p:nvSpPr>
          <p:cNvPr id="3" name="Content Placeholder 2"/>
          <p:cNvSpPr>
            <a:spLocks noGrp="1"/>
          </p:cNvSpPr>
          <p:nvPr>
            <p:ph idx="1"/>
          </p:nvPr>
        </p:nvSpPr>
        <p:spPr/>
        <p:txBody>
          <a:bodyPr/>
          <a:lstStyle/>
          <a:p>
            <a:r>
              <a:rPr lang="en-US" dirty="0"/>
              <a:t>It is important to check system information before buying a computer or loading any software in an existing one because the system information determines the cost, performance and the software that can run in the computer</a:t>
            </a:r>
          </a:p>
        </p:txBody>
      </p:sp>
    </p:spTree>
    <p:extLst>
      <p:ext uri="{BB962C8B-B14F-4D97-AF65-F5344CB8AC3E}">
        <p14:creationId xmlns:p14="http://schemas.microsoft.com/office/powerpoint/2010/main" val="2641466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9098" y="384725"/>
            <a:ext cx="9601196" cy="858860"/>
          </a:xfrm>
        </p:spPr>
        <p:txBody>
          <a:bodyPr>
            <a:normAutofit fontScale="90000"/>
          </a:bodyPr>
          <a:lstStyle/>
          <a:p>
            <a:r>
              <a:rPr lang="en-US" b="1" dirty="0"/>
              <a:t>The following properties are generally true</a:t>
            </a:r>
            <a:r>
              <a:rPr lang="en-US" dirty="0"/>
              <a:t>:</a:t>
            </a:r>
          </a:p>
        </p:txBody>
      </p:sp>
      <p:sp>
        <p:nvSpPr>
          <p:cNvPr id="3" name="Content Placeholder 2"/>
          <p:cNvSpPr>
            <a:spLocks noGrp="1"/>
          </p:cNvSpPr>
          <p:nvPr>
            <p:ph idx="1"/>
          </p:nvPr>
        </p:nvSpPr>
        <p:spPr>
          <a:xfrm>
            <a:off x="633984" y="1243585"/>
            <a:ext cx="10741152" cy="4949952"/>
          </a:xfrm>
        </p:spPr>
        <p:txBody>
          <a:bodyPr>
            <a:noAutofit/>
          </a:bodyPr>
          <a:lstStyle/>
          <a:p>
            <a:r>
              <a:rPr lang="en-US" sz="2800" dirty="0"/>
              <a:t>➢ The larger the Random Access Memory (RAM), the better the performance of a computer the and higher the cost . </a:t>
            </a:r>
            <a:endParaRPr lang="en-US" sz="2800" dirty="0" smtClean="0"/>
          </a:p>
          <a:p>
            <a:r>
              <a:rPr lang="en-US" sz="2800" dirty="0" smtClean="0"/>
              <a:t>➢ </a:t>
            </a:r>
            <a:r>
              <a:rPr lang="en-US" sz="2800" dirty="0"/>
              <a:t>The larger the hard disk size of a computer, the larger the data the computer can store and the larger the software that can be installed on the computer. Larger hard disks also imply better performance and higher cost. </a:t>
            </a:r>
            <a:endParaRPr lang="en-US" sz="2800" dirty="0" smtClean="0"/>
          </a:p>
          <a:p>
            <a:r>
              <a:rPr lang="en-US" sz="2800" dirty="0" smtClean="0"/>
              <a:t>➢ </a:t>
            </a:r>
            <a:r>
              <a:rPr lang="en-US" sz="2800" dirty="0"/>
              <a:t>The higher the cache memory of a computer, the faster the response time of the computer. Cache memory also has implications on the cost of the computer with higher cache implying higher cost</a:t>
            </a:r>
            <a:r>
              <a:rPr lang="en-US" sz="2800" dirty="0" smtClean="0"/>
              <a:t>.</a:t>
            </a:r>
            <a:endParaRPr lang="en-US" sz="2800" dirty="0"/>
          </a:p>
          <a:p>
            <a:r>
              <a:rPr lang="en-US" sz="2800" dirty="0" smtClean="0"/>
              <a:t>The higher the processor speed, the higher the processing power of the computer and th</a:t>
            </a:r>
            <a:r>
              <a:rPr lang="en-US" sz="2800" dirty="0" smtClean="0"/>
              <a:t>e higher the cost of the computer. </a:t>
            </a:r>
            <a:endParaRPr lang="en-US" sz="2800" dirty="0"/>
          </a:p>
        </p:txBody>
      </p:sp>
    </p:spTree>
    <p:extLst>
      <p:ext uri="{BB962C8B-B14F-4D97-AF65-F5344CB8AC3E}">
        <p14:creationId xmlns:p14="http://schemas.microsoft.com/office/powerpoint/2010/main" val="85989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BALANCED COMPUTER</a:t>
            </a:r>
            <a:endParaRPr lang="en-US" dirty="0"/>
          </a:p>
        </p:txBody>
      </p:sp>
      <p:sp>
        <p:nvSpPr>
          <p:cNvPr id="3" name="Content Placeholder 2"/>
          <p:cNvSpPr>
            <a:spLocks noGrp="1"/>
          </p:cNvSpPr>
          <p:nvPr>
            <p:ph idx="1"/>
          </p:nvPr>
        </p:nvSpPr>
        <p:spPr>
          <a:xfrm>
            <a:off x="1295402" y="2459396"/>
            <a:ext cx="9601196" cy="3551260"/>
          </a:xfrm>
        </p:spPr>
        <p:txBody>
          <a:bodyPr/>
          <a:lstStyle/>
          <a:p>
            <a:r>
              <a:rPr lang="en-US" dirty="0" smtClean="0"/>
              <a:t>There needs to be a balance in the system properties for good functioning of the computer.</a:t>
            </a:r>
          </a:p>
          <a:p>
            <a:r>
              <a:rPr lang="en-US" dirty="0" smtClean="0"/>
              <a:t>A balanced computer means a computer that has a very high processing speed should have large RAM</a:t>
            </a:r>
          </a:p>
          <a:p>
            <a:r>
              <a:rPr lang="en-US" dirty="0" smtClean="0"/>
              <a:t>Similarly, a very large RAM should have a large Hard disk for better performance of computer in terms of </a:t>
            </a:r>
            <a:r>
              <a:rPr lang="en-US" smtClean="0"/>
              <a:t>processing power.</a:t>
            </a:r>
            <a:endParaRPr lang="en-US" dirty="0"/>
          </a:p>
        </p:txBody>
      </p:sp>
    </p:spTree>
    <p:extLst>
      <p:ext uri="{BB962C8B-B14F-4D97-AF65-F5344CB8AC3E}">
        <p14:creationId xmlns:p14="http://schemas.microsoft.com/office/powerpoint/2010/main" val="129062585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113</TotalTime>
  <Words>1280</Words>
  <Application>Microsoft Office PowerPoint</Application>
  <PresentationFormat>Widescreen</PresentationFormat>
  <Paragraphs>88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Garamond</vt:lpstr>
      <vt:lpstr>Wingdings</vt:lpstr>
      <vt:lpstr>Organic</vt:lpstr>
      <vt:lpstr>MANAGEMENT OF COMPUTERS</vt:lpstr>
      <vt:lpstr>HARDWARE INSTALLATION</vt:lpstr>
      <vt:lpstr>Tools and other requirements when connecting computers hardware</vt:lpstr>
      <vt:lpstr>Mounting internal devices</vt:lpstr>
      <vt:lpstr>PowerPoint Presentation</vt:lpstr>
      <vt:lpstr>Mounting hard drives and optical drives </vt:lpstr>
      <vt:lpstr>PowerPoint Presentation</vt:lpstr>
      <vt:lpstr>Steps to be followed when mounting an EIDE or SATA Hard drive. </vt:lpstr>
      <vt:lpstr>Installation floppy drives</vt:lpstr>
      <vt:lpstr>Connecting external devices </vt:lpstr>
      <vt:lpstr>Device Management</vt:lpstr>
      <vt:lpstr>System information</vt:lpstr>
      <vt:lpstr>Checking system information</vt:lpstr>
      <vt:lpstr>PowerPoint Presentation</vt:lpstr>
      <vt:lpstr>PowerPoint Presentation</vt:lpstr>
      <vt:lpstr>CHECKING THE HARD DISK SIZE   </vt:lpstr>
      <vt:lpstr>Importance of checking system properties</vt:lpstr>
      <vt:lpstr>The following properties are generally true:</vt:lpstr>
      <vt:lpstr>A BALANCED COMPUTER</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OF COMPUTERS</dc:title>
  <dc:creator>Microsoft</dc:creator>
  <cp:lastModifiedBy>ARTHUR MVULA</cp:lastModifiedBy>
  <cp:revision>50</cp:revision>
  <dcterms:created xsi:type="dcterms:W3CDTF">2022-01-08T13:13:29Z</dcterms:created>
  <dcterms:modified xsi:type="dcterms:W3CDTF">2022-02-12T14:40:15Z</dcterms:modified>
</cp:coreProperties>
</file>