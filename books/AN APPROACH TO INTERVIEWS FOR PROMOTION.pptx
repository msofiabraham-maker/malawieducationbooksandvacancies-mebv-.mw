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emf" ContentType="image/x-emf"/>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300" r:id="rId43"/>
    <p:sldId id="298" r:id="rId44"/>
    <p:sldId id="299" r:id="rId45"/>
    <p:sldId id="301"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976" autoAdjust="0"/>
    <p:restoredTop sz="94660"/>
  </p:normalViewPr>
  <p:slideViewPr>
    <p:cSldViewPr>
      <p:cViewPr varScale="1">
        <p:scale>
          <a:sx n="45" d="100"/>
          <a:sy n="45" d="100"/>
        </p:scale>
        <p:origin x="-1164" y="-90"/>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A973B60-C36D-4DA9-97A1-65D1211C6434}" type="datetimeFigureOut">
              <a:rPr lang="en-US" smtClean="0"/>
              <a:pPr/>
              <a:t>5/16/2016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4029478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973B60-C36D-4DA9-97A1-65D1211C6434}" type="datetimeFigureOut">
              <a:rPr lang="en-US" smtClean="0"/>
              <a:pPr/>
              <a:t>5/16/2016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735919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973B60-C36D-4DA9-97A1-65D1211C6434}" type="datetimeFigureOut">
              <a:rPr lang="en-US" smtClean="0"/>
              <a:pPr/>
              <a:t>5/16/2016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4273687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A973B60-C36D-4DA9-97A1-65D1211C6434}" type="datetimeFigureOut">
              <a:rPr lang="en-US" smtClean="0"/>
              <a:pPr/>
              <a:t>5/16/2016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183692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A973B60-C36D-4DA9-97A1-65D1211C6434}" type="datetimeFigureOut">
              <a:rPr lang="en-US" smtClean="0"/>
              <a:pPr/>
              <a:t>5/16/2016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2413518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A973B60-C36D-4DA9-97A1-65D1211C6434}" type="datetimeFigureOut">
              <a:rPr lang="en-US" smtClean="0"/>
              <a:pPr/>
              <a:t>5/16/2016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2154050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973B60-C36D-4DA9-97A1-65D1211C6434}" type="datetimeFigureOut">
              <a:rPr lang="en-US" smtClean="0"/>
              <a:pPr/>
              <a:t>5/16/2016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3239752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973B60-C36D-4DA9-97A1-65D1211C6434}" type="datetimeFigureOut">
              <a:rPr lang="en-US" smtClean="0"/>
              <a:pPr/>
              <a:t>5/16/2016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3438036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973B60-C36D-4DA9-97A1-65D1211C6434}" type="datetimeFigureOut">
              <a:rPr lang="en-US" smtClean="0"/>
              <a:pPr/>
              <a:t>5/16/2016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529090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973B60-C36D-4DA9-97A1-65D1211C6434}" type="datetimeFigureOut">
              <a:rPr lang="en-US" smtClean="0"/>
              <a:pPr/>
              <a:t>5/16/2016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2589183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973B60-C36D-4DA9-97A1-65D1211C6434}" type="datetimeFigureOut">
              <a:rPr lang="en-US" smtClean="0"/>
              <a:pPr/>
              <a:t>5/16/2016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3208047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973B60-C36D-4DA9-97A1-65D1211C6434}" type="datetimeFigureOut">
              <a:rPr lang="en-US" smtClean="0"/>
              <a:pPr/>
              <a:t>5/16/2016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69FEBF7-39B6-4FA9-A26C-827F66571750}" type="slidenum">
              <a:rPr lang="en-US" smtClean="0"/>
              <a:pPr/>
              <a:t>‹#›</a:t>
            </a:fld>
            <a:endParaRPr lang="en-US"/>
          </a:p>
        </p:txBody>
      </p:sp>
    </p:spTree>
    <p:extLst>
      <p:ext uri="{BB962C8B-B14F-4D97-AF65-F5344CB8AC3E}">
        <p14:creationId xmlns="" xmlns:p14="http://schemas.microsoft.com/office/powerpoint/2010/main" val="3556822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73762"/>
          </a:xfrm>
        </p:spPr>
        <p:txBody>
          <a:bodyPr/>
          <a:lstStyle/>
          <a:p>
            <a:r>
              <a:rPr lang="en-US" b="1" dirty="0" smtClean="0"/>
              <a:t>AN APPROACH TO INTERVIEWS FOR PROMOTION</a:t>
            </a:r>
            <a:r>
              <a:rPr lang="en-US" dirty="0" smtClean="0"/>
              <a:t/>
            </a:r>
            <a:br>
              <a:rPr lang="en-US" dirty="0" smtClean="0"/>
            </a:br>
            <a:r>
              <a:rPr lang="en-US" dirty="0"/>
              <a:t/>
            </a:r>
            <a:br>
              <a:rPr lang="en-US" dirty="0"/>
            </a:br>
            <a:r>
              <a:rPr lang="en-US" dirty="0" smtClean="0"/>
              <a:t>By Vincent Mbazi Mudolo</a:t>
            </a:r>
            <a:br>
              <a:rPr lang="en-US" dirty="0" smtClean="0"/>
            </a:br>
            <a:r>
              <a:rPr lang="en-US" sz="3600" i="1" dirty="0" smtClean="0"/>
              <a:t>(</a:t>
            </a:r>
            <a:r>
              <a:rPr lang="en-US" sz="3600" i="1" dirty="0" err="1" smtClean="0"/>
              <a:t>M.Ed</a:t>
            </a:r>
            <a:r>
              <a:rPr lang="en-US" sz="3600" i="1" dirty="0" smtClean="0"/>
              <a:t>; </a:t>
            </a:r>
            <a:r>
              <a:rPr lang="en-US" sz="3600" i="1" dirty="0" err="1" smtClean="0"/>
              <a:t>B.Ed</a:t>
            </a:r>
            <a:r>
              <a:rPr lang="en-US" sz="3600" i="1" dirty="0" smtClean="0"/>
              <a:t>; </a:t>
            </a:r>
            <a:r>
              <a:rPr lang="en-US" sz="3600" i="1" dirty="0" err="1" smtClean="0"/>
              <a:t>Dip.Ed</a:t>
            </a:r>
            <a:r>
              <a:rPr lang="en-US" sz="3600" i="1" dirty="0" smtClean="0"/>
              <a:t>)</a:t>
            </a:r>
            <a:endParaRPr lang="en-US" sz="3600" i="1" dirty="0"/>
          </a:p>
        </p:txBody>
      </p:sp>
    </p:spTree>
    <p:extLst>
      <p:ext uri="{BB962C8B-B14F-4D97-AF65-F5344CB8AC3E}">
        <p14:creationId xmlns="" xmlns:p14="http://schemas.microsoft.com/office/powerpoint/2010/main" val="25438366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74638"/>
            <a:ext cx="7696200" cy="5973762"/>
          </a:xfrm>
        </p:spPr>
        <p:txBody>
          <a:bodyPr>
            <a:normAutofit/>
          </a:bodyPr>
          <a:lstStyle/>
          <a:p>
            <a:pPr algn="l"/>
            <a:r>
              <a:rPr lang="en-US" u="sng" dirty="0" smtClean="0">
                <a:effectLst>
                  <a:outerShdw blurRad="38100" dist="38100" dir="2700000" algn="tl">
                    <a:srgbClr val="000000">
                      <a:alpha val="43137"/>
                    </a:srgbClr>
                  </a:outerShdw>
                </a:effectLst>
              </a:rPr>
              <a:t>An Overview</a:t>
            </a:r>
            <a:r>
              <a:rPr lang="en-US" dirty="0" smtClean="0"/>
              <a:t/>
            </a:r>
            <a:br>
              <a:rPr lang="en-US" dirty="0" smtClean="0"/>
            </a:br>
            <a:r>
              <a:rPr lang="en-US" sz="2800" dirty="0" smtClean="0"/>
              <a:t>1</a:t>
            </a:r>
            <a:r>
              <a:rPr lang="en-US" sz="3200" dirty="0" smtClean="0"/>
              <a:t>. </a:t>
            </a:r>
            <a:r>
              <a:rPr lang="en-US" sz="2800" dirty="0" smtClean="0"/>
              <a:t>Background</a:t>
            </a:r>
            <a:br>
              <a:rPr lang="en-US" sz="2800" dirty="0" smtClean="0"/>
            </a:br>
            <a:r>
              <a:rPr lang="en-US" sz="2800" dirty="0" smtClean="0"/>
              <a:t>2. Response to the advertisement of a vacant post</a:t>
            </a:r>
            <a:br>
              <a:rPr lang="en-US" sz="2800" dirty="0" smtClean="0"/>
            </a:br>
            <a:r>
              <a:rPr lang="en-US" sz="2800" dirty="0" smtClean="0"/>
              <a:t>3. Preparations for the Interviews</a:t>
            </a:r>
            <a:br>
              <a:rPr lang="en-US" sz="2800" dirty="0" smtClean="0"/>
            </a:br>
            <a:r>
              <a:rPr lang="en-US" sz="2800" dirty="0" smtClean="0"/>
              <a:t>4.The Interview Day</a:t>
            </a:r>
            <a:br>
              <a:rPr lang="en-US" sz="2800" dirty="0" smtClean="0"/>
            </a:br>
            <a:r>
              <a:rPr lang="en-US" sz="2800" dirty="0" smtClean="0"/>
              <a:t>5. The Interview Assessment Criteria</a:t>
            </a:r>
            <a:br>
              <a:rPr lang="en-US" sz="2800" dirty="0" smtClean="0"/>
            </a:br>
            <a:r>
              <a:rPr lang="en-US" sz="2800" dirty="0" smtClean="0"/>
              <a:t>6. Response to Interview Questions</a:t>
            </a:r>
            <a:br>
              <a:rPr lang="en-US" sz="2800" dirty="0" smtClean="0"/>
            </a:br>
            <a:r>
              <a:rPr lang="en-US" sz="2800" dirty="0"/>
              <a:t>	</a:t>
            </a:r>
            <a:r>
              <a:rPr lang="en-US" sz="2800" dirty="0" smtClean="0"/>
              <a:t>- Suitability for the post</a:t>
            </a:r>
            <a:br>
              <a:rPr lang="en-US" sz="2800" dirty="0" smtClean="0"/>
            </a:br>
            <a:r>
              <a:rPr lang="en-US" sz="2800" dirty="0"/>
              <a:t>	</a:t>
            </a:r>
            <a:r>
              <a:rPr lang="en-US" sz="2800" dirty="0" smtClean="0"/>
              <a:t>- Practical Questions</a:t>
            </a:r>
            <a:br>
              <a:rPr lang="en-US" sz="2800" dirty="0" smtClean="0"/>
            </a:br>
            <a:r>
              <a:rPr lang="en-US" sz="2800" dirty="0"/>
              <a:t>	</a:t>
            </a:r>
            <a:r>
              <a:rPr lang="en-US" sz="2800" dirty="0" smtClean="0"/>
              <a:t>- General Questions</a:t>
            </a:r>
            <a:endParaRPr lang="en-US" sz="2800" dirty="0"/>
          </a:p>
        </p:txBody>
      </p:sp>
    </p:spTree>
    <p:extLst>
      <p:ext uri="{BB962C8B-B14F-4D97-AF65-F5344CB8AC3E}">
        <p14:creationId xmlns="" xmlns:p14="http://schemas.microsoft.com/office/powerpoint/2010/main" val="10503245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97562"/>
          </a:xfrm>
        </p:spPr>
        <p:txBody>
          <a:bodyPr>
            <a:normAutofit/>
          </a:bodyPr>
          <a:lstStyle/>
          <a:p>
            <a:pPr algn="l"/>
            <a:r>
              <a:rPr lang="en-US" sz="2700" b="1" u="sng" dirty="0" smtClean="0">
                <a:effectLst>
                  <a:outerShdw blurRad="38100" dist="38100" dir="2700000" algn="tl">
                    <a:srgbClr val="000000">
                      <a:alpha val="43137"/>
                    </a:srgbClr>
                  </a:outerShdw>
                </a:effectLst>
              </a:rPr>
              <a:t>BACKGROUND</a:t>
            </a:r>
            <a:r>
              <a:rPr lang="en-US" sz="2700" b="1" dirty="0" smtClean="0">
                <a:effectLst>
                  <a:outerShdw blurRad="38100" dist="38100" dir="2700000" algn="tl">
                    <a:srgbClr val="000000">
                      <a:alpha val="43137"/>
                    </a:srgbClr>
                  </a:outerShdw>
                </a:effectLst>
              </a:rPr>
              <a:t/>
            </a:r>
            <a:br>
              <a:rPr lang="en-US" sz="2700" b="1" dirty="0" smtClean="0">
                <a:effectLst>
                  <a:outerShdw blurRad="38100" dist="38100" dir="2700000" algn="tl">
                    <a:srgbClr val="000000">
                      <a:alpha val="43137"/>
                    </a:srgbClr>
                  </a:outerShdw>
                </a:effectLst>
              </a:rPr>
            </a:br>
            <a:r>
              <a:rPr lang="en-US" sz="3200" b="1" dirty="0" smtClean="0">
                <a:effectLst>
                  <a:outerShdw blurRad="38100" dist="38100" dir="2700000" algn="tl">
                    <a:srgbClr val="000000">
                      <a:alpha val="43137"/>
                    </a:srgbClr>
                  </a:outerShdw>
                </a:effectLst>
              </a:rPr>
              <a:t/>
            </a:r>
            <a:br>
              <a:rPr lang="en-US" sz="3200" b="1" dirty="0" smtClean="0">
                <a:effectLst>
                  <a:outerShdw blurRad="38100" dist="38100" dir="2700000" algn="tl">
                    <a:srgbClr val="000000">
                      <a:alpha val="43137"/>
                    </a:srgbClr>
                  </a:outerShdw>
                </a:effectLst>
              </a:rPr>
            </a:br>
            <a:r>
              <a:rPr lang="en-US" sz="3200" dirty="0" smtClean="0"/>
              <a:t>An </a:t>
            </a:r>
            <a:r>
              <a:rPr lang="en-US" sz="3200" b="1" dirty="0" smtClean="0"/>
              <a:t>interview</a:t>
            </a:r>
            <a:r>
              <a:rPr lang="en-US" sz="3200" dirty="0" smtClean="0"/>
              <a:t> is a conversation where questions are asked and answers are given in a one-on-one conversation with one person acting in the role of the </a:t>
            </a:r>
            <a:r>
              <a:rPr lang="en-US" sz="3200" i="1" dirty="0" smtClean="0"/>
              <a:t>interviewer</a:t>
            </a:r>
            <a:r>
              <a:rPr lang="en-US" sz="3200" dirty="0" smtClean="0"/>
              <a:t> and the other in the role of the </a:t>
            </a:r>
            <a:r>
              <a:rPr lang="en-US" sz="3200" i="1" dirty="0" smtClean="0"/>
              <a:t>interviewee</a:t>
            </a:r>
            <a:r>
              <a:rPr lang="en-US" sz="3200" dirty="0" smtClean="0"/>
              <a:t>. </a:t>
            </a:r>
            <a:br>
              <a:rPr lang="en-US" sz="3200" dirty="0" smtClean="0"/>
            </a:br>
            <a:r>
              <a:rPr lang="en-US" sz="3200" dirty="0"/>
              <a:t/>
            </a:r>
            <a:br>
              <a:rPr lang="en-US" sz="3200" dirty="0"/>
            </a:br>
            <a:r>
              <a:rPr lang="en-US" sz="3200" dirty="0" smtClean="0"/>
              <a:t>A teacher is interviewed when he is being hired to become a teacher or for promotion as part of career advancement.</a:t>
            </a:r>
            <a:endParaRPr lang="en-US" b="1" dirty="0"/>
          </a:p>
        </p:txBody>
      </p:sp>
    </p:spTree>
    <p:extLst>
      <p:ext uri="{BB962C8B-B14F-4D97-AF65-F5344CB8AC3E}">
        <p14:creationId xmlns="" xmlns:p14="http://schemas.microsoft.com/office/powerpoint/2010/main" val="8909108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81000" y="1143000"/>
            <a:ext cx="8382000" cy="5287962"/>
          </a:xfrm>
        </p:spPr>
        <p:txBody>
          <a:bodyPr>
            <a:normAutofit fontScale="90000"/>
          </a:bodyPr>
          <a:lstStyle/>
          <a:p>
            <a:pPr algn="l"/>
            <a:r>
              <a:rPr lang="en-US" sz="3100" b="1" dirty="0" smtClean="0"/>
              <a:t>RESPONSE TO THE ADVERTISEMENT FOR THE VACANCY</a:t>
            </a:r>
            <a:r>
              <a:rPr lang="en-US" sz="3100" dirty="0"/>
              <a:t/>
            </a:r>
            <a:br>
              <a:rPr lang="en-US" sz="3100" dirty="0"/>
            </a:br>
            <a:r>
              <a:rPr lang="en-US" sz="3100" dirty="0" smtClean="0"/>
              <a:t/>
            </a:r>
            <a:br>
              <a:rPr lang="en-US" sz="3100" dirty="0" smtClean="0"/>
            </a:br>
            <a:r>
              <a:rPr lang="en-US" sz="3100" b="1" dirty="0" err="1" smtClean="0"/>
              <a:t>Vacancy</a:t>
            </a:r>
            <a:r>
              <a:rPr lang="en-US" sz="3100" dirty="0"/>
              <a:t/>
            </a:r>
            <a:br>
              <a:rPr lang="en-US" sz="3100" dirty="0"/>
            </a:br>
            <a:r>
              <a:rPr lang="en-US" sz="3100" u="sng" dirty="0"/>
              <a:t>Post</a:t>
            </a:r>
            <a:r>
              <a:rPr lang="en-US" sz="3100" dirty="0"/>
              <a:t>		</a:t>
            </a:r>
            <a:r>
              <a:rPr lang="en-US" sz="3100" dirty="0" smtClean="0"/>
              <a:t>:</a:t>
            </a:r>
            <a:r>
              <a:rPr lang="en-US" sz="3100" dirty="0"/>
              <a:t>	Secondary School Teacher (Grade TI)</a:t>
            </a:r>
            <a:br>
              <a:rPr lang="en-US" sz="3100" dirty="0"/>
            </a:br>
            <a:r>
              <a:rPr lang="en-US" sz="3100" u="sng" dirty="0"/>
              <a:t>Salary</a:t>
            </a:r>
            <a:r>
              <a:rPr lang="en-US" sz="3100" dirty="0"/>
              <a:t>		</a:t>
            </a:r>
            <a:r>
              <a:rPr lang="en-US" sz="3100" dirty="0" smtClean="0"/>
              <a:t>:</a:t>
            </a:r>
            <a:r>
              <a:rPr lang="en-US" sz="3100" dirty="0"/>
              <a:t>	Within Grade I salary Segment</a:t>
            </a:r>
            <a:br>
              <a:rPr lang="en-US" sz="3100" dirty="0"/>
            </a:br>
            <a:r>
              <a:rPr lang="en-US" sz="3100" u="sng" dirty="0"/>
              <a:t>Location</a:t>
            </a:r>
            <a:r>
              <a:rPr lang="en-US" sz="3100" dirty="0"/>
              <a:t>	</a:t>
            </a:r>
            <a:r>
              <a:rPr lang="en-US" sz="3100" dirty="0" smtClean="0"/>
              <a:t>: </a:t>
            </a:r>
            <a:r>
              <a:rPr lang="en-US" sz="3100" dirty="0"/>
              <a:t>	Various Education </a:t>
            </a:r>
            <a:r>
              <a:rPr lang="en-US" sz="3100" dirty="0" smtClean="0"/>
              <a:t>Divisions</a:t>
            </a:r>
            <a:br>
              <a:rPr lang="en-US" sz="3100" dirty="0" smtClean="0"/>
            </a:br>
            <a:r>
              <a:rPr lang="en-US" sz="3100" u="sng" dirty="0"/>
              <a:t>Qualifications</a:t>
            </a:r>
            <a:r>
              <a:rPr lang="en-US" sz="3100" dirty="0"/>
              <a:t>	:	</a:t>
            </a:r>
            <a:r>
              <a:rPr lang="en-US" sz="3100" dirty="0" smtClean="0"/>
              <a:t/>
            </a:r>
            <a:br>
              <a:rPr lang="en-US" sz="3100" dirty="0" smtClean="0"/>
            </a:br>
            <a:r>
              <a:rPr lang="en-US" sz="3100" dirty="0" smtClean="0"/>
              <a:t>Applicants </a:t>
            </a:r>
            <a:r>
              <a:rPr lang="en-US" sz="3100" dirty="0"/>
              <a:t>should be holders of any one of the following: Bachelor of Education, Bachelor of Science (Education), Bachelor of Arts (Theology/Divinity or Humanities) and should be serving teachers in Grades TL, TK and TJ</a:t>
            </a:r>
            <a:br>
              <a:rPr lang="en-US" sz="3100" dirty="0"/>
            </a:br>
            <a:r>
              <a:rPr lang="en-US" dirty="0"/>
              <a:t/>
            </a:r>
            <a:br>
              <a:rPr lang="en-US" dirty="0"/>
            </a:br>
            <a:endParaRPr lang="en-US" dirty="0"/>
          </a:p>
        </p:txBody>
      </p:sp>
    </p:spTree>
    <p:extLst>
      <p:ext uri="{BB962C8B-B14F-4D97-AF65-F5344CB8AC3E}">
        <p14:creationId xmlns="" xmlns:p14="http://schemas.microsoft.com/office/powerpoint/2010/main" val="21970510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990600"/>
            <a:ext cx="8382000" cy="6126162"/>
          </a:xfrm>
        </p:spPr>
        <p:txBody>
          <a:bodyPr>
            <a:normAutofit fontScale="90000"/>
          </a:bodyPr>
          <a:lstStyle/>
          <a:p>
            <a:pPr lvl="0" algn="l"/>
            <a:r>
              <a:rPr lang="en-US" sz="3600" b="1" u="sng" dirty="0" smtClean="0"/>
              <a:t>Duties and Responsibilities</a:t>
            </a:r>
            <a:r>
              <a:rPr lang="en-US" sz="2700" dirty="0" smtClean="0"/>
              <a:t/>
            </a:r>
            <a:br>
              <a:rPr lang="en-US" sz="2700" dirty="0" smtClean="0"/>
            </a:br>
            <a:r>
              <a:rPr lang="en-US" sz="2700" dirty="0" smtClean="0"/>
              <a:t>(a) 	Teaching subjects in their area of specialization</a:t>
            </a:r>
            <a:br>
              <a:rPr lang="en-US" sz="2700" dirty="0" smtClean="0"/>
            </a:br>
            <a:r>
              <a:rPr lang="en-US" sz="2700" dirty="0" smtClean="0"/>
              <a:t/>
            </a:r>
            <a:br>
              <a:rPr lang="en-US" sz="2700" dirty="0" smtClean="0"/>
            </a:br>
            <a:r>
              <a:rPr lang="en-US" sz="2700" dirty="0" smtClean="0"/>
              <a:t>(b) 	Attending meetings as well as general assemblies</a:t>
            </a:r>
            <a:br>
              <a:rPr lang="en-US" sz="2700" dirty="0" smtClean="0"/>
            </a:br>
            <a:r>
              <a:rPr lang="en-US" sz="2700" dirty="0" smtClean="0"/>
              <a:t/>
            </a:r>
            <a:br>
              <a:rPr lang="en-US" sz="2700" dirty="0" smtClean="0"/>
            </a:br>
            <a:r>
              <a:rPr lang="en-US" sz="2700" dirty="0" smtClean="0"/>
              <a:t>(c) 	Preparing lesson plans</a:t>
            </a:r>
            <a:br>
              <a:rPr lang="en-US" sz="2700" dirty="0" smtClean="0"/>
            </a:br>
            <a:r>
              <a:rPr lang="en-US" sz="2700" dirty="0" smtClean="0"/>
              <a:t/>
            </a:r>
            <a:br>
              <a:rPr lang="en-US" sz="2700" dirty="0" smtClean="0"/>
            </a:br>
            <a:r>
              <a:rPr lang="en-US" sz="2700" dirty="0" smtClean="0"/>
              <a:t>(d) </a:t>
            </a:r>
            <a:r>
              <a:rPr lang="en-US" sz="3100" dirty="0" smtClean="0"/>
              <a:t>	</a:t>
            </a:r>
            <a:r>
              <a:rPr lang="en-US" sz="2700" dirty="0" smtClean="0"/>
              <a:t>Preparing and maintaining schemes and records of work</a:t>
            </a:r>
            <a:r>
              <a:rPr lang="en-US" sz="2200" dirty="0" smtClean="0"/>
              <a:t/>
            </a:r>
            <a:br>
              <a:rPr lang="en-US" sz="2200" dirty="0" smtClean="0"/>
            </a:br>
            <a:r>
              <a:rPr lang="en-US" sz="2700" dirty="0" smtClean="0"/>
              <a:t/>
            </a:r>
            <a:br>
              <a:rPr lang="en-US" sz="2700" dirty="0" smtClean="0"/>
            </a:br>
            <a:r>
              <a:rPr lang="en-US" sz="2700" dirty="0" smtClean="0"/>
              <a:t>(e)	Designing, preparing and developing teaching and    	learning materials for their subjects</a:t>
            </a:r>
            <a:br>
              <a:rPr lang="en-US" sz="2700" dirty="0" smtClean="0"/>
            </a:br>
            <a:r>
              <a:rPr lang="en-US" sz="2700" dirty="0" smtClean="0"/>
              <a:t/>
            </a:r>
            <a:br>
              <a:rPr lang="en-US" sz="2700" dirty="0" smtClean="0"/>
            </a:br>
            <a:r>
              <a:rPr lang="en-US" sz="2700" dirty="0" smtClean="0"/>
              <a:t>(f) 	Assessing students and compiling test results</a:t>
            </a:r>
            <a:br>
              <a:rPr lang="en-US" sz="2700" dirty="0" smtClean="0"/>
            </a:br>
            <a:r>
              <a:rPr lang="en-US" sz="2700" dirty="0" smtClean="0"/>
              <a:t/>
            </a:r>
            <a:br>
              <a:rPr lang="en-US" sz="2700" dirty="0" smtClean="0"/>
            </a:br>
            <a:r>
              <a:rPr lang="en-US" sz="2700" dirty="0" smtClean="0"/>
              <a:t>(g)</a:t>
            </a:r>
            <a:r>
              <a:rPr lang="en-US" sz="2700" dirty="0"/>
              <a:t>	</a:t>
            </a:r>
            <a:r>
              <a:rPr lang="en-US" sz="2700" dirty="0" smtClean="0"/>
              <a:t>Assessing </a:t>
            </a:r>
            <a:r>
              <a:rPr lang="en-US" sz="2700" dirty="0"/>
              <a:t>students and compiling test results</a:t>
            </a:r>
            <a:br>
              <a:rPr lang="en-US" sz="2700" dirty="0"/>
            </a:br>
            <a:r>
              <a:rPr lang="en-US" sz="2700" dirty="0" smtClean="0"/>
              <a:t>	</a:t>
            </a:r>
            <a:r>
              <a:rPr lang="en-US" sz="4000" dirty="0"/>
              <a:t/>
            </a:r>
            <a:br>
              <a:rPr lang="en-US" sz="4000" dirty="0"/>
            </a:br>
            <a:r>
              <a:rPr lang="en-US" sz="4000" dirty="0" smtClean="0"/>
              <a:t/>
            </a:r>
            <a:br>
              <a:rPr lang="en-US" sz="4000" dirty="0" smtClean="0"/>
            </a:br>
            <a:endParaRPr lang="en-US" sz="4000" dirty="0"/>
          </a:p>
        </p:txBody>
      </p:sp>
    </p:spTree>
    <p:extLst>
      <p:ext uri="{BB962C8B-B14F-4D97-AF65-F5344CB8AC3E}">
        <p14:creationId xmlns="" xmlns:p14="http://schemas.microsoft.com/office/powerpoint/2010/main" val="24099924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126162"/>
          </a:xfrm>
        </p:spPr>
        <p:txBody>
          <a:bodyPr>
            <a:noAutofit/>
          </a:bodyPr>
          <a:lstStyle/>
          <a:p>
            <a:pPr algn="l"/>
            <a:r>
              <a:rPr lang="en-US" sz="2800" dirty="0" smtClean="0"/>
              <a:t>(h)	Maintaining records e.g. progress reports, 	attendance 	registers and scholastic information</a:t>
            </a:r>
            <a:br>
              <a:rPr lang="en-US" sz="2800" dirty="0" smtClean="0"/>
            </a:br>
            <a:r>
              <a:rPr lang="en-US" sz="2800" dirty="0" smtClean="0"/>
              <a:t/>
            </a:r>
            <a:br>
              <a:rPr lang="en-US" sz="2800" dirty="0" smtClean="0"/>
            </a:br>
            <a:r>
              <a:rPr lang="en-US" sz="2800" dirty="0" smtClean="0"/>
              <a:t>(</a:t>
            </a:r>
            <a:r>
              <a:rPr lang="en-US" sz="2800" dirty="0" err="1" smtClean="0"/>
              <a:t>i</a:t>
            </a:r>
            <a:r>
              <a:rPr lang="en-US" sz="2800" dirty="0" smtClean="0"/>
              <a:t>)	Participating in continuous professional 	development programmes </a:t>
            </a:r>
            <a:r>
              <a:rPr lang="en-US" sz="2800" smtClean="0"/>
              <a:t>(CPDs</a:t>
            </a:r>
            <a:r>
              <a:rPr lang="en-US" sz="2800" dirty="0" smtClean="0"/>
              <a:t>)</a:t>
            </a:r>
            <a:br>
              <a:rPr lang="en-US" sz="2800" dirty="0" smtClean="0"/>
            </a:br>
            <a:r>
              <a:rPr lang="en-US" sz="2800" dirty="0" smtClean="0"/>
              <a:t/>
            </a:r>
            <a:br>
              <a:rPr lang="en-US" sz="2800" dirty="0" smtClean="0"/>
            </a:br>
            <a:r>
              <a:rPr lang="en-US" sz="2800" dirty="0" smtClean="0"/>
              <a:t>(j)	Maintaining students’ discipline</a:t>
            </a:r>
            <a:br>
              <a:rPr lang="en-US" sz="2800" dirty="0" smtClean="0"/>
            </a:br>
            <a:r>
              <a:rPr lang="en-US" sz="2800" dirty="0" smtClean="0"/>
              <a:t/>
            </a:r>
            <a:br>
              <a:rPr lang="en-US" sz="2800" dirty="0" smtClean="0"/>
            </a:br>
            <a:r>
              <a:rPr lang="en-US" sz="2800" dirty="0" smtClean="0"/>
              <a:t>(k)	Identifying students’ needs</a:t>
            </a:r>
            <a:br>
              <a:rPr lang="en-US" sz="2800" dirty="0" smtClean="0"/>
            </a:br>
            <a:r>
              <a:rPr lang="en-US" sz="2800" dirty="0" smtClean="0"/>
              <a:t/>
            </a:r>
            <a:br>
              <a:rPr lang="en-US" sz="2800" dirty="0" smtClean="0"/>
            </a:br>
            <a:r>
              <a:rPr lang="en-US" sz="2800" dirty="0" smtClean="0"/>
              <a:t>(l)	Providing counselling and guidance to learners</a:t>
            </a:r>
            <a:br>
              <a:rPr lang="en-US" sz="2800" dirty="0" smtClean="0"/>
            </a:br>
            <a:r>
              <a:rPr lang="en-US" sz="2800" dirty="0" smtClean="0"/>
              <a:t/>
            </a:r>
            <a:br>
              <a:rPr lang="en-US" sz="2800" dirty="0" smtClean="0"/>
            </a:br>
            <a:r>
              <a:rPr lang="en-US" sz="2800" dirty="0" smtClean="0"/>
              <a:t>(m)	Performing any other duties assigned by the 	headteacher from time to time</a:t>
            </a:r>
            <a:endParaRPr lang="en-US" sz="2800" dirty="0"/>
          </a:p>
        </p:txBody>
      </p:sp>
    </p:spTree>
    <p:extLst>
      <p:ext uri="{BB962C8B-B14F-4D97-AF65-F5344CB8AC3E}">
        <p14:creationId xmlns="" xmlns:p14="http://schemas.microsoft.com/office/powerpoint/2010/main" val="4397389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rmAutofit fontScale="90000"/>
          </a:bodyPr>
          <a:lstStyle/>
          <a:p>
            <a:pPr algn="l"/>
            <a:r>
              <a:rPr lang="en-US" b="1" u="sng" dirty="0"/>
              <a:t>Method of Application</a:t>
            </a:r>
            <a:r>
              <a:rPr lang="en-US" dirty="0"/>
              <a:t/>
            </a:r>
            <a:br>
              <a:rPr lang="en-US" dirty="0"/>
            </a:br>
            <a:r>
              <a:rPr lang="en-US" dirty="0" smtClean="0"/>
              <a:t/>
            </a:r>
            <a:br>
              <a:rPr lang="en-US" dirty="0" smtClean="0"/>
            </a:br>
            <a:r>
              <a:rPr lang="en-US" sz="3100" dirty="0" smtClean="0"/>
              <a:t>Applications </a:t>
            </a:r>
            <a:r>
              <a:rPr lang="en-US" sz="3100" dirty="0"/>
              <a:t>stating age, full details of </a:t>
            </a:r>
            <a:r>
              <a:rPr lang="en-US" sz="3100" dirty="0" smtClean="0"/>
              <a:t>educational /</a:t>
            </a:r>
            <a:r>
              <a:rPr lang="en-US" sz="3100" dirty="0"/>
              <a:t>professional qualifications and subject of specialization should be submitted through the Education Division </a:t>
            </a:r>
            <a:r>
              <a:rPr lang="en-US" sz="3100" dirty="0" smtClean="0"/>
              <a:t>Manager </a:t>
            </a:r>
            <a:r>
              <a:rPr lang="en-US" sz="3100" dirty="0"/>
              <a:t>to:</a:t>
            </a:r>
            <a:br>
              <a:rPr lang="en-US" sz="3100" dirty="0"/>
            </a:br>
            <a:r>
              <a:rPr lang="en-US" sz="3100" dirty="0" smtClean="0"/>
              <a:t/>
            </a:r>
            <a:br>
              <a:rPr lang="en-US" sz="3100" dirty="0" smtClean="0"/>
            </a:br>
            <a:r>
              <a:rPr lang="en-US" sz="3100" dirty="0" smtClean="0"/>
              <a:t>The </a:t>
            </a:r>
            <a:r>
              <a:rPr lang="en-US" sz="3100" dirty="0"/>
              <a:t>Secretary, </a:t>
            </a:r>
            <a:br>
              <a:rPr lang="en-US" sz="3100" dirty="0"/>
            </a:br>
            <a:r>
              <a:rPr lang="en-US" sz="3100" dirty="0"/>
              <a:t>The Teaching Service Commission, </a:t>
            </a:r>
            <a:br>
              <a:rPr lang="en-US" sz="3100" dirty="0"/>
            </a:br>
            <a:r>
              <a:rPr lang="en-US" sz="3100" dirty="0"/>
              <a:t>Private Bag 235, </a:t>
            </a:r>
            <a:br>
              <a:rPr lang="en-US" sz="3100" dirty="0"/>
            </a:br>
            <a:r>
              <a:rPr lang="en-US" sz="3100" dirty="0"/>
              <a:t>Lilongwe.</a:t>
            </a:r>
            <a:r>
              <a:rPr lang="en-US" dirty="0"/>
              <a:t/>
            </a:r>
            <a:br>
              <a:rPr lang="en-US" dirty="0"/>
            </a:br>
            <a:endParaRPr lang="en-US" dirty="0"/>
          </a:p>
        </p:txBody>
      </p:sp>
    </p:spTree>
    <p:extLst>
      <p:ext uri="{BB962C8B-B14F-4D97-AF65-F5344CB8AC3E}">
        <p14:creationId xmlns="" xmlns:p14="http://schemas.microsoft.com/office/powerpoint/2010/main" val="11705045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97562"/>
          </a:xfrm>
        </p:spPr>
        <p:txBody>
          <a:bodyPr>
            <a:normAutofit fontScale="90000"/>
          </a:bodyPr>
          <a:lstStyle/>
          <a:p>
            <a:pPr algn="l"/>
            <a:r>
              <a:rPr lang="en-US" sz="3600" b="1" dirty="0"/>
              <a:t>Responses to details in the advertisement for the vacant post</a:t>
            </a:r>
            <a:r>
              <a:rPr lang="en-US" sz="3600" dirty="0"/>
              <a:t/>
            </a:r>
            <a:br>
              <a:rPr lang="en-US" sz="3600" dirty="0"/>
            </a:br>
            <a:r>
              <a:rPr lang="en-US" sz="3600" dirty="0" smtClean="0"/>
              <a:t>-	</a:t>
            </a:r>
            <a:r>
              <a:rPr lang="en-US" sz="3100" dirty="0" smtClean="0"/>
              <a:t>Apply </a:t>
            </a:r>
            <a:r>
              <a:rPr lang="en-US" sz="3100" dirty="0"/>
              <a:t>only when you meet all the </a:t>
            </a:r>
            <a:r>
              <a:rPr lang="en-US" sz="3100" dirty="0" smtClean="0"/>
              <a:t/>
            </a:r>
            <a:br>
              <a:rPr lang="en-US" sz="3100" dirty="0" smtClean="0"/>
            </a:br>
            <a:r>
              <a:rPr lang="en-US" sz="3100" dirty="0" smtClean="0"/>
              <a:t>	requirements </a:t>
            </a:r>
            <a:r>
              <a:rPr lang="en-US" sz="3100" dirty="0"/>
              <a:t>of the vacant post. </a:t>
            </a:r>
            <a:r>
              <a:rPr lang="en-US" sz="3100" dirty="0" smtClean="0"/>
              <a:t>Otherwise 	you 	will </a:t>
            </a:r>
            <a:r>
              <a:rPr lang="en-US" sz="3100" dirty="0"/>
              <a:t>not be interviewed </a:t>
            </a:r>
            <a:r>
              <a:rPr lang="en-US" sz="3100" dirty="0" smtClean="0"/>
              <a:t>	even </a:t>
            </a:r>
            <a:r>
              <a:rPr lang="en-US" sz="3100" dirty="0"/>
              <a:t>if you are </a:t>
            </a:r>
            <a:r>
              <a:rPr lang="en-US" sz="3100" dirty="0" smtClean="0"/>
              <a:t>	shortlisted </a:t>
            </a:r>
            <a:r>
              <a:rPr lang="en-US" sz="3100" dirty="0"/>
              <a:t>for the </a:t>
            </a:r>
            <a:r>
              <a:rPr lang="en-US" sz="3100" dirty="0" smtClean="0"/>
              <a:t>	interview.</a:t>
            </a:r>
            <a:br>
              <a:rPr lang="en-US" sz="3100" dirty="0" smtClean="0"/>
            </a:br>
            <a:r>
              <a:rPr lang="en-US" sz="3100" dirty="0" smtClean="0"/>
              <a:t/>
            </a:r>
            <a:br>
              <a:rPr lang="en-US" sz="3100" dirty="0" smtClean="0"/>
            </a:br>
            <a:r>
              <a:rPr lang="en-US" sz="3100" dirty="0" smtClean="0"/>
              <a:t>-	Write </a:t>
            </a:r>
            <a:r>
              <a:rPr lang="en-US" sz="3100" dirty="0"/>
              <a:t>your application letter through the </a:t>
            </a:r>
            <a:r>
              <a:rPr lang="en-US" sz="3100" dirty="0" smtClean="0"/>
              <a:t>	Headteacher </a:t>
            </a:r>
            <a:r>
              <a:rPr lang="en-US" sz="3100" dirty="0"/>
              <a:t>of your school and the </a:t>
            </a:r>
            <a:r>
              <a:rPr lang="en-US" sz="3100" dirty="0" smtClean="0"/>
              <a:t>	Education 	Division </a:t>
            </a:r>
            <a:r>
              <a:rPr lang="en-US" sz="3100" dirty="0"/>
              <a:t>Manager, and make </a:t>
            </a:r>
            <a:r>
              <a:rPr lang="en-US" sz="3100" dirty="0" smtClean="0"/>
              <a:t>sure </a:t>
            </a:r>
            <a:r>
              <a:rPr lang="en-US" sz="3100" dirty="0"/>
              <a:t>it is signed </a:t>
            </a:r>
            <a:r>
              <a:rPr lang="en-US" sz="3100" dirty="0" smtClean="0"/>
              <a:t>	and </a:t>
            </a:r>
            <a:r>
              <a:rPr lang="en-US" sz="3100" dirty="0"/>
              <a:t>stamped by the </a:t>
            </a:r>
            <a:r>
              <a:rPr lang="en-US" sz="3100" dirty="0" smtClean="0"/>
              <a:t>responsible </a:t>
            </a:r>
            <a:r>
              <a:rPr lang="en-US" sz="3100" dirty="0"/>
              <a:t>officers.</a:t>
            </a:r>
            <a:r>
              <a:rPr lang="en-US" dirty="0"/>
              <a:t/>
            </a:r>
            <a:br>
              <a:rPr lang="en-US" dirty="0"/>
            </a:br>
            <a:endParaRPr lang="en-US" dirty="0"/>
          </a:p>
        </p:txBody>
      </p:sp>
    </p:spTree>
    <p:extLst>
      <p:ext uri="{BB962C8B-B14F-4D97-AF65-F5344CB8AC3E}">
        <p14:creationId xmlns="" xmlns:p14="http://schemas.microsoft.com/office/powerpoint/2010/main" val="13840345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5486400"/>
          </a:xfrm>
        </p:spPr>
        <p:txBody>
          <a:bodyPr>
            <a:normAutofit fontScale="90000"/>
          </a:bodyPr>
          <a:lstStyle/>
          <a:p>
            <a:pPr lvl="0" algn="l"/>
            <a:r>
              <a:rPr lang="en-US" sz="3100" dirty="0" smtClean="0"/>
              <a:t>- </a:t>
            </a:r>
            <a:r>
              <a:rPr lang="en-US" sz="2700" dirty="0" smtClean="0"/>
              <a:t>Ensure </a:t>
            </a:r>
            <a:r>
              <a:rPr lang="en-US" sz="2700" dirty="0"/>
              <a:t>that copies of your application letters </a:t>
            </a:r>
            <a:r>
              <a:rPr lang="en-US" sz="2700" dirty="0" smtClean="0"/>
              <a:t>which </a:t>
            </a:r>
            <a:r>
              <a:rPr lang="en-US" sz="2700" dirty="0"/>
              <a:t>have been  </a:t>
            </a:r>
            <a:r>
              <a:rPr lang="en-US" sz="2700" dirty="0" smtClean="0"/>
              <a:t> duly </a:t>
            </a:r>
            <a:r>
              <a:rPr lang="en-US" sz="2700" dirty="0"/>
              <a:t>signed by both the </a:t>
            </a:r>
            <a:r>
              <a:rPr lang="en-US" sz="2700" dirty="0" smtClean="0"/>
              <a:t>HT </a:t>
            </a:r>
            <a:r>
              <a:rPr lang="en-US" sz="2700" dirty="0"/>
              <a:t>and the EDM are properly filed. </a:t>
            </a:r>
            <a:r>
              <a:rPr lang="en-US" sz="2700" dirty="0" smtClean="0"/>
              <a:t/>
            </a:r>
            <a:br>
              <a:rPr lang="en-US" sz="2700" dirty="0" smtClean="0"/>
            </a:br>
            <a:r>
              <a:rPr lang="en-US" sz="2700" dirty="0" smtClean="0"/>
              <a:t/>
            </a:r>
            <a:br>
              <a:rPr lang="en-US" sz="2700" dirty="0" smtClean="0"/>
            </a:br>
            <a:r>
              <a:rPr lang="en-US" sz="2700" dirty="0" smtClean="0"/>
              <a:t>-Keep </a:t>
            </a:r>
            <a:r>
              <a:rPr lang="en-US" sz="2700" dirty="0"/>
              <a:t>your copy and carry it with you to the </a:t>
            </a:r>
            <a:r>
              <a:rPr lang="en-US" sz="2700" dirty="0" smtClean="0"/>
              <a:t>	interview </a:t>
            </a:r>
            <a:r>
              <a:rPr lang="en-US" sz="2700" dirty="0"/>
              <a:t>board in situations where you applied </a:t>
            </a:r>
            <a:r>
              <a:rPr lang="en-US" sz="2700" dirty="0" smtClean="0"/>
              <a:t>	but </a:t>
            </a:r>
            <a:r>
              <a:rPr lang="en-US" sz="2700" dirty="0"/>
              <a:t>have not been invited for the interview</a:t>
            </a:r>
            <a:r>
              <a:rPr lang="en-US" sz="2700" dirty="0" smtClean="0"/>
              <a:t>.</a:t>
            </a:r>
            <a:br>
              <a:rPr lang="en-US" sz="2700" dirty="0" smtClean="0"/>
            </a:br>
            <a:r>
              <a:rPr lang="en-US" sz="2700" dirty="0"/>
              <a:t/>
            </a:r>
            <a:br>
              <a:rPr lang="en-US" sz="2700" dirty="0"/>
            </a:br>
            <a:r>
              <a:rPr lang="en-US" sz="2700" dirty="0" smtClean="0"/>
              <a:t>- Although </a:t>
            </a:r>
            <a:r>
              <a:rPr lang="en-US" sz="2700" dirty="0"/>
              <a:t>it is the responsibility of the officers </a:t>
            </a:r>
            <a:r>
              <a:rPr lang="en-US" sz="2700" dirty="0" smtClean="0"/>
              <a:t>through </a:t>
            </a:r>
            <a:r>
              <a:rPr lang="en-US" sz="2700" dirty="0"/>
              <a:t>whom you write the letter to forward </a:t>
            </a:r>
            <a:r>
              <a:rPr lang="en-US" sz="2700" dirty="0" smtClean="0"/>
              <a:t>the </a:t>
            </a:r>
            <a:r>
              <a:rPr lang="en-US" sz="2700" dirty="0"/>
              <a:t>application letter to the Teaching Service </a:t>
            </a:r>
            <a:r>
              <a:rPr lang="en-US" sz="2700" dirty="0" smtClean="0"/>
              <a:t>Commission</a:t>
            </a:r>
            <a:r>
              <a:rPr lang="en-US" sz="2700" dirty="0"/>
              <a:t>, it is advisable that you, the </a:t>
            </a:r>
            <a:r>
              <a:rPr lang="en-US" sz="2700" dirty="0" smtClean="0"/>
              <a:t>applicant</a:t>
            </a:r>
            <a:r>
              <a:rPr lang="en-US" sz="2700" dirty="0"/>
              <a:t>, should take that responsibility to do </a:t>
            </a:r>
            <a:r>
              <a:rPr lang="en-US" sz="2700" dirty="0" smtClean="0"/>
              <a:t>so.</a:t>
            </a:r>
            <a:br>
              <a:rPr lang="en-US" sz="2700" dirty="0" smtClean="0"/>
            </a:br>
            <a:r>
              <a:rPr lang="en-US" sz="2700" dirty="0"/>
              <a:t/>
            </a:r>
            <a:br>
              <a:rPr lang="en-US" sz="2700" dirty="0"/>
            </a:br>
            <a:r>
              <a:rPr lang="en-US" sz="2700" dirty="0"/>
              <a:t>Meet the set deadline.</a:t>
            </a:r>
            <a:r>
              <a:rPr lang="en-US" sz="3100" dirty="0"/>
              <a:t/>
            </a:r>
            <a:br>
              <a:rPr lang="en-US" sz="3100" dirty="0"/>
            </a:br>
            <a:endParaRPr lang="en-US" dirty="0"/>
          </a:p>
        </p:txBody>
      </p:sp>
    </p:spTree>
    <p:extLst>
      <p:ext uri="{BB962C8B-B14F-4D97-AF65-F5344CB8AC3E}">
        <p14:creationId xmlns="" xmlns:p14="http://schemas.microsoft.com/office/powerpoint/2010/main" val="32460659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54762"/>
          </a:xfrm>
        </p:spPr>
        <p:txBody>
          <a:bodyPr>
            <a:normAutofit fontScale="90000"/>
          </a:bodyPr>
          <a:lstStyle/>
          <a:p>
            <a:pPr marL="457200" indent="-457200" algn="l">
              <a:buFont typeface="Wingdings" panose="05000000000000000000" pitchFamily="2" charset="2"/>
              <a:buChar char="q"/>
            </a:pPr>
            <a:r>
              <a:rPr lang="en-US" sz="3100" b="1" dirty="0"/>
              <a:t>Preparations for the advertised vacant </a:t>
            </a:r>
            <a:r>
              <a:rPr lang="en-US" sz="3100" b="1" dirty="0" smtClean="0"/>
              <a:t>post</a:t>
            </a:r>
            <a:br>
              <a:rPr lang="en-US" sz="3100" b="1" dirty="0" smtClean="0"/>
            </a:br>
            <a:r>
              <a:rPr lang="en-US" sz="3100" dirty="0"/>
              <a:t/>
            </a:r>
            <a:br>
              <a:rPr lang="en-US" sz="3100" dirty="0"/>
            </a:br>
            <a:r>
              <a:rPr lang="en-US" sz="3100" dirty="0" smtClean="0"/>
              <a:t>- 	</a:t>
            </a:r>
            <a:r>
              <a:rPr lang="en-US" sz="2700" dirty="0" smtClean="0"/>
              <a:t>Read </a:t>
            </a:r>
            <a:r>
              <a:rPr lang="en-US" sz="2700" dirty="0"/>
              <a:t>and understand the requirements of the </a:t>
            </a:r>
            <a:r>
              <a:rPr lang="en-US" sz="2700" dirty="0" smtClean="0"/>
              <a:t> 	vacant </a:t>
            </a:r>
            <a:r>
              <a:rPr lang="en-US" sz="2700" dirty="0"/>
              <a:t>post</a:t>
            </a:r>
            <a:r>
              <a:rPr lang="en-US" sz="2700" dirty="0" smtClean="0"/>
              <a:t>.</a:t>
            </a:r>
            <a:br>
              <a:rPr lang="en-US" sz="2700" dirty="0" smtClean="0"/>
            </a:br>
            <a:r>
              <a:rPr lang="en-US" sz="2700" dirty="0"/>
              <a:t/>
            </a:r>
            <a:br>
              <a:rPr lang="en-US" sz="2700" dirty="0"/>
            </a:br>
            <a:r>
              <a:rPr lang="en-US" sz="2700" dirty="0" smtClean="0"/>
              <a:t>-	Organize </a:t>
            </a:r>
            <a:r>
              <a:rPr lang="en-US" sz="2700" dirty="0"/>
              <a:t>your original certificates, promotion </a:t>
            </a:r>
            <a:r>
              <a:rPr lang="en-US" sz="2700" dirty="0" smtClean="0"/>
              <a:t>	letters</a:t>
            </a:r>
            <a:r>
              <a:rPr lang="en-US" sz="2700" dirty="0"/>
              <a:t>, curriculum vitae, testimonials and such </a:t>
            </a:r>
            <a:r>
              <a:rPr lang="en-US" sz="2700" dirty="0" smtClean="0"/>
              <a:t>very 	official </a:t>
            </a:r>
            <a:r>
              <a:rPr lang="en-US" sz="2700" dirty="0"/>
              <a:t>documents as PSR 19, confirmation </a:t>
            </a:r>
            <a:r>
              <a:rPr lang="en-US" sz="2700" dirty="0" smtClean="0"/>
              <a:t>letters </a:t>
            </a:r>
            <a:r>
              <a:rPr lang="en-US" sz="2700" dirty="0"/>
              <a:t>of your </a:t>
            </a:r>
            <a:r>
              <a:rPr lang="en-US" sz="2700" dirty="0" smtClean="0"/>
              <a:t>	appointment </a:t>
            </a:r>
            <a:r>
              <a:rPr lang="en-US" sz="2700" dirty="0"/>
              <a:t>and any other </a:t>
            </a:r>
            <a:r>
              <a:rPr lang="en-US" sz="2700" dirty="0" smtClean="0"/>
              <a:t>relevant </a:t>
            </a:r>
            <a:r>
              <a:rPr lang="en-US" sz="2700" dirty="0"/>
              <a:t>documents. </a:t>
            </a:r>
            <a:r>
              <a:rPr lang="en-US" sz="2700" dirty="0" smtClean="0"/>
              <a:t/>
            </a:r>
            <a:br>
              <a:rPr lang="en-US" sz="2700" dirty="0" smtClean="0"/>
            </a:br>
            <a:r>
              <a:rPr lang="en-US" sz="2700" dirty="0" smtClean="0"/>
              <a:t/>
            </a:r>
            <a:br>
              <a:rPr lang="en-US" sz="2700" dirty="0" smtClean="0"/>
            </a:br>
            <a:r>
              <a:rPr lang="en-US" sz="2700" dirty="0" smtClean="0"/>
              <a:t>-	Carry </a:t>
            </a:r>
            <a:r>
              <a:rPr lang="en-US" sz="2700" dirty="0"/>
              <a:t>these to the interview board</a:t>
            </a:r>
            <a:r>
              <a:rPr lang="en-US" sz="2700" dirty="0" smtClean="0"/>
              <a:t>.</a:t>
            </a:r>
            <a:br>
              <a:rPr lang="en-US" sz="2700" dirty="0" smtClean="0"/>
            </a:br>
            <a:r>
              <a:rPr lang="en-US" sz="2700" dirty="0"/>
              <a:t/>
            </a:r>
            <a:br>
              <a:rPr lang="en-US" sz="2700" dirty="0"/>
            </a:br>
            <a:r>
              <a:rPr lang="en-US" sz="2700" dirty="0" smtClean="0"/>
              <a:t>-	Make </a:t>
            </a:r>
            <a:r>
              <a:rPr lang="en-US" sz="2700" dirty="0"/>
              <a:t>sure the documents bear your official </a:t>
            </a:r>
            <a:r>
              <a:rPr lang="en-US" sz="2700" dirty="0" smtClean="0"/>
              <a:t>	names</a:t>
            </a:r>
            <a:r>
              <a:rPr lang="en-US" sz="2700" dirty="0"/>
              <a:t>. For </a:t>
            </a:r>
            <a:r>
              <a:rPr lang="en-US" sz="2700" dirty="0" smtClean="0"/>
              <a:t>	example</a:t>
            </a:r>
            <a:r>
              <a:rPr lang="en-US" sz="2700" dirty="0"/>
              <a:t>, you must not be Vincent </a:t>
            </a:r>
            <a:r>
              <a:rPr lang="en-US" sz="2700" dirty="0" smtClean="0"/>
              <a:t>Mbazi </a:t>
            </a:r>
            <a:r>
              <a:rPr lang="en-US" sz="2700" dirty="0"/>
              <a:t>Mudolo in one </a:t>
            </a:r>
            <a:r>
              <a:rPr lang="en-US" sz="2700" dirty="0" smtClean="0"/>
              <a:t>	certificate</a:t>
            </a:r>
            <a:r>
              <a:rPr lang="en-US" sz="2700" dirty="0"/>
              <a:t>, and Vincent </a:t>
            </a:r>
            <a:r>
              <a:rPr lang="en-US" sz="2700" dirty="0" smtClean="0"/>
              <a:t>Yikwaka </a:t>
            </a:r>
            <a:r>
              <a:rPr lang="en-US" sz="2700" dirty="0"/>
              <a:t>Mudolo in another.</a:t>
            </a:r>
            <a:r>
              <a:rPr lang="en-US" sz="4000" dirty="0"/>
              <a:t/>
            </a:r>
            <a:br>
              <a:rPr lang="en-US" sz="4000" dirty="0"/>
            </a:br>
            <a:endParaRPr lang="en-US" sz="4000" dirty="0"/>
          </a:p>
        </p:txBody>
      </p:sp>
    </p:spTree>
    <p:extLst>
      <p:ext uri="{BB962C8B-B14F-4D97-AF65-F5344CB8AC3E}">
        <p14:creationId xmlns="" xmlns:p14="http://schemas.microsoft.com/office/powerpoint/2010/main" val="18220814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rmAutofit fontScale="90000"/>
          </a:bodyPr>
          <a:lstStyle/>
          <a:p>
            <a:pPr lvl="0" algn="l"/>
            <a:r>
              <a:rPr lang="en-US" sz="2700" dirty="0" smtClean="0"/>
              <a:t>-	In </a:t>
            </a:r>
            <a:r>
              <a:rPr lang="en-US" sz="2700" dirty="0"/>
              <a:t>case your original certificates are lost, acquire a </a:t>
            </a:r>
            <a:r>
              <a:rPr lang="en-US" sz="2700" dirty="0" smtClean="0"/>
              <a:t>	police 	report.</a:t>
            </a:r>
            <a:br>
              <a:rPr lang="en-US" sz="2700" dirty="0" smtClean="0"/>
            </a:br>
            <a:r>
              <a:rPr lang="en-US" sz="2700" dirty="0"/>
              <a:t/>
            </a:r>
            <a:br>
              <a:rPr lang="en-US" sz="2700" dirty="0"/>
            </a:br>
            <a:r>
              <a:rPr lang="en-US" sz="2700" dirty="0" smtClean="0"/>
              <a:t>-	Understand </a:t>
            </a:r>
            <a:r>
              <a:rPr lang="en-US" sz="2700" dirty="0"/>
              <a:t>the job </a:t>
            </a:r>
            <a:r>
              <a:rPr lang="en-US" sz="2700" dirty="0" smtClean="0"/>
              <a:t>description</a:t>
            </a:r>
            <a:br>
              <a:rPr lang="en-US" sz="2700" dirty="0" smtClean="0"/>
            </a:br>
            <a:r>
              <a:rPr lang="en-US" sz="2700" dirty="0"/>
              <a:t/>
            </a:r>
            <a:br>
              <a:rPr lang="en-US" sz="2700" dirty="0"/>
            </a:br>
            <a:r>
              <a:rPr lang="en-US" sz="2700" dirty="0" smtClean="0"/>
              <a:t>-	Research </a:t>
            </a:r>
            <a:r>
              <a:rPr lang="en-US" sz="2700" dirty="0"/>
              <a:t>on each job </a:t>
            </a:r>
            <a:r>
              <a:rPr lang="en-US" sz="2700" dirty="0" smtClean="0"/>
              <a:t>description</a:t>
            </a:r>
            <a:br>
              <a:rPr lang="en-US" sz="2700" dirty="0" smtClean="0"/>
            </a:br>
            <a:r>
              <a:rPr lang="en-US" sz="2700" dirty="0"/>
              <a:t/>
            </a:r>
            <a:br>
              <a:rPr lang="en-US" sz="2700" dirty="0"/>
            </a:br>
            <a:r>
              <a:rPr lang="en-US" sz="2700" dirty="0" smtClean="0"/>
              <a:t>-	Formulate </a:t>
            </a:r>
            <a:r>
              <a:rPr lang="en-US" sz="2700" dirty="0"/>
              <a:t>probable interview questions and </a:t>
            </a:r>
            <a:r>
              <a:rPr lang="en-US" sz="2700" dirty="0" smtClean="0"/>
              <a:t>	responses</a:t>
            </a:r>
            <a:br>
              <a:rPr lang="en-US" sz="2700" dirty="0" smtClean="0"/>
            </a:br>
            <a:r>
              <a:rPr lang="en-US" sz="2700" dirty="0"/>
              <a:t/>
            </a:r>
            <a:br>
              <a:rPr lang="en-US" sz="2700" dirty="0"/>
            </a:br>
            <a:r>
              <a:rPr lang="en-US" sz="2700" dirty="0" smtClean="0"/>
              <a:t>-	Rehearse </a:t>
            </a:r>
            <a:r>
              <a:rPr lang="en-US" sz="2700" dirty="0"/>
              <a:t>the interview questions and responses with </a:t>
            </a:r>
            <a:r>
              <a:rPr lang="en-US" sz="2700" dirty="0" smtClean="0"/>
              <a:t>	your peers</a:t>
            </a:r>
            <a:br>
              <a:rPr lang="en-US" sz="2700" dirty="0" smtClean="0"/>
            </a:br>
            <a:r>
              <a:rPr lang="en-US" dirty="0"/>
              <a:t/>
            </a:r>
            <a:br>
              <a:rPr lang="en-US" dirty="0"/>
            </a:br>
            <a:endParaRPr lang="en-US" dirty="0"/>
          </a:p>
        </p:txBody>
      </p:sp>
    </p:spTree>
    <p:extLst>
      <p:ext uri="{BB962C8B-B14F-4D97-AF65-F5344CB8AC3E}">
        <p14:creationId xmlns="" xmlns:p14="http://schemas.microsoft.com/office/powerpoint/2010/main" val="23813847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73762"/>
          </a:xfrm>
        </p:spPr>
        <p:txBody>
          <a:bodyPr>
            <a:noAutofit/>
          </a:bodyPr>
          <a:lstStyle/>
          <a:p>
            <a:pPr algn="l"/>
            <a:r>
              <a:rPr lang="en-US" sz="3200" dirty="0" smtClean="0"/>
              <a:t/>
            </a:r>
            <a:br>
              <a:rPr lang="en-US" sz="3200" dirty="0" smtClean="0"/>
            </a:br>
            <a:r>
              <a:rPr lang="en-US" sz="3200" dirty="0" smtClean="0"/>
              <a:t>-	</a:t>
            </a:r>
            <a:r>
              <a:rPr lang="en-US" sz="2800" dirty="0" smtClean="0"/>
              <a:t>Prepare the type of dress you will wear on 	the 	interview 	day. Choose subdued 	colours like 	black, grey, blues and 	browns.</a:t>
            </a:r>
            <a:br>
              <a:rPr lang="en-US" sz="2800" dirty="0" smtClean="0"/>
            </a:br>
            <a:r>
              <a:rPr lang="en-US" sz="2800" dirty="0" smtClean="0"/>
              <a:t/>
            </a:r>
            <a:br>
              <a:rPr lang="en-US" sz="2800" dirty="0" smtClean="0"/>
            </a:br>
            <a:r>
              <a:rPr lang="en-US" sz="2800" dirty="0" smtClean="0"/>
              <a:t>-	Before the interview day go to bed early so 	that 	you look rested and healthy on the big day. Do 	not take alcoholic drinks or drugs that will have a 	hangover effect on the Interview day.</a:t>
            </a:r>
            <a:endParaRPr lang="en-US" sz="2800" dirty="0"/>
          </a:p>
        </p:txBody>
      </p:sp>
    </p:spTree>
    <p:extLst>
      <p:ext uri="{BB962C8B-B14F-4D97-AF65-F5344CB8AC3E}">
        <p14:creationId xmlns="" xmlns:p14="http://schemas.microsoft.com/office/powerpoint/2010/main" val="26439278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rmAutofit fontScale="90000"/>
          </a:bodyPr>
          <a:lstStyle/>
          <a:p>
            <a:pPr lvl="0" algn="l"/>
            <a:r>
              <a:rPr lang="en-US" sz="2800" b="1" dirty="0"/>
              <a:t> </a:t>
            </a:r>
            <a:r>
              <a:rPr lang="en-US" sz="2800" b="1" dirty="0" smtClean="0"/>
              <a:t>On </a:t>
            </a:r>
            <a:r>
              <a:rPr lang="en-US" sz="2800" b="1" dirty="0"/>
              <a:t>the interview day, </a:t>
            </a:r>
            <a:r>
              <a:rPr lang="en-US" sz="2800" b="1" dirty="0" smtClean="0"/>
              <a:t/>
            </a:r>
            <a:br>
              <a:rPr lang="en-US" sz="2800" b="1" dirty="0" smtClean="0"/>
            </a:br>
            <a:r>
              <a:rPr lang="en-US" sz="2800" dirty="0"/>
              <a:t/>
            </a:r>
            <a:br>
              <a:rPr lang="en-US" sz="2800" dirty="0"/>
            </a:br>
            <a:r>
              <a:rPr lang="en-US" sz="2800" dirty="0" smtClean="0"/>
              <a:t>-	You </a:t>
            </a:r>
            <a:r>
              <a:rPr lang="en-US" sz="2800" dirty="0"/>
              <a:t>may exercise on this interview day to </a:t>
            </a:r>
            <a:r>
              <a:rPr lang="en-US" sz="2800" dirty="0" smtClean="0"/>
              <a:t>	annihilate 	stress </a:t>
            </a:r>
            <a:r>
              <a:rPr lang="en-US" sz="2800" dirty="0"/>
              <a:t>and increase blood flow before </a:t>
            </a:r>
            <a:r>
              <a:rPr lang="en-US" sz="2800" dirty="0" smtClean="0"/>
              <a:t>taking </a:t>
            </a:r>
            <a:r>
              <a:rPr lang="en-US" sz="2800" dirty="0"/>
              <a:t>your </a:t>
            </a:r>
            <a:r>
              <a:rPr lang="en-US" sz="2800" dirty="0" smtClean="0"/>
              <a:t>	bath.</a:t>
            </a:r>
            <a:br>
              <a:rPr lang="en-US" sz="2800" dirty="0" smtClean="0"/>
            </a:br>
            <a:r>
              <a:rPr lang="en-US" sz="2800" dirty="0"/>
              <a:t/>
            </a:r>
            <a:br>
              <a:rPr lang="en-US" sz="2800" dirty="0"/>
            </a:br>
            <a:r>
              <a:rPr lang="en-US" sz="2800" dirty="0" smtClean="0"/>
              <a:t>-	Have </a:t>
            </a:r>
            <a:r>
              <a:rPr lang="en-US" sz="2800" dirty="0"/>
              <a:t>a healthy breakfast high in antioxidants, </a:t>
            </a:r>
            <a:r>
              <a:rPr lang="en-US" sz="2800" dirty="0" smtClean="0"/>
              <a:t>fatty 	acids</a:t>
            </a:r>
            <a:r>
              <a:rPr lang="en-US" sz="2800" dirty="0"/>
              <a:t>, and foods high in Vitamin E such as </a:t>
            </a:r>
            <a:r>
              <a:rPr lang="en-US" sz="2800" dirty="0" smtClean="0"/>
              <a:t>	nuts </a:t>
            </a:r>
            <a:r>
              <a:rPr lang="en-US" sz="2800" dirty="0"/>
              <a:t>and </a:t>
            </a:r>
            <a:r>
              <a:rPr lang="en-US" sz="2800" dirty="0" smtClean="0"/>
              <a:t>	seeds</a:t>
            </a:r>
            <a:r>
              <a:rPr lang="en-US" sz="2800" dirty="0"/>
              <a:t>. These will improve your brain </a:t>
            </a:r>
            <a:r>
              <a:rPr lang="en-US" sz="2800" dirty="0" smtClean="0"/>
              <a:t>function </a:t>
            </a:r>
            <a:r>
              <a:rPr lang="en-US" sz="2800" dirty="0"/>
              <a:t>and </a:t>
            </a:r>
            <a:r>
              <a:rPr lang="en-US" sz="2800" dirty="0" smtClean="0"/>
              <a:t>	leave </a:t>
            </a:r>
            <a:r>
              <a:rPr lang="en-US" sz="2800" dirty="0"/>
              <a:t>you feeling more alert and </a:t>
            </a:r>
            <a:r>
              <a:rPr lang="en-US" sz="2800" dirty="0" smtClean="0"/>
              <a:t>invigorated.</a:t>
            </a:r>
            <a:br>
              <a:rPr lang="en-US" sz="2800" dirty="0" smtClean="0"/>
            </a:br>
            <a:r>
              <a:rPr lang="en-US" sz="2800" dirty="0" smtClean="0"/>
              <a:t> </a:t>
            </a:r>
            <a:br>
              <a:rPr lang="en-US" sz="2800" dirty="0" smtClean="0"/>
            </a:br>
            <a:r>
              <a:rPr lang="en-US" sz="2800" dirty="0" smtClean="0"/>
              <a:t>-	Show </a:t>
            </a:r>
            <a:r>
              <a:rPr lang="en-US" sz="2800" dirty="0"/>
              <a:t>up in the best possible </a:t>
            </a:r>
            <a:r>
              <a:rPr lang="en-US" sz="2800" dirty="0" smtClean="0"/>
              <a:t>shape; carry </a:t>
            </a:r>
            <a:r>
              <a:rPr lang="en-US" sz="2800" dirty="0"/>
              <a:t>all </a:t>
            </a:r>
            <a:r>
              <a:rPr lang="en-US" sz="2800" dirty="0" smtClean="0"/>
              <a:t>the 	relevant </a:t>
            </a:r>
            <a:r>
              <a:rPr lang="en-US" sz="2800" dirty="0"/>
              <a:t>documents with </a:t>
            </a:r>
            <a:r>
              <a:rPr lang="en-US" sz="2800" dirty="0" smtClean="0"/>
              <a:t>you; be punctual</a:t>
            </a:r>
            <a:br>
              <a:rPr lang="en-US" sz="2800" dirty="0" smtClean="0"/>
            </a:br>
            <a:r>
              <a:rPr lang="en-US" sz="2800" dirty="0"/>
              <a:t/>
            </a:r>
            <a:br>
              <a:rPr lang="en-US" sz="2800" dirty="0"/>
            </a:br>
            <a:r>
              <a:rPr lang="en-US" sz="2800" dirty="0" smtClean="0"/>
              <a:t>-	Complete </a:t>
            </a:r>
            <a:r>
              <a:rPr lang="en-US" sz="2800" dirty="0"/>
              <a:t>the registration form with accuracy, paying </a:t>
            </a:r>
            <a:r>
              <a:rPr lang="en-US" sz="2800" dirty="0" smtClean="0"/>
              <a:t>	particular </a:t>
            </a:r>
            <a:r>
              <a:rPr lang="en-US" sz="2800" dirty="0"/>
              <a:t>attention to every detail. </a:t>
            </a:r>
            <a:br>
              <a:rPr lang="en-US" sz="2800" dirty="0"/>
            </a:br>
            <a:endParaRPr lang="en-US" sz="2800" dirty="0"/>
          </a:p>
        </p:txBody>
      </p:sp>
    </p:spTree>
    <p:extLst>
      <p:ext uri="{BB962C8B-B14F-4D97-AF65-F5344CB8AC3E}">
        <p14:creationId xmlns="" xmlns:p14="http://schemas.microsoft.com/office/powerpoint/2010/main" val="40360462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914400"/>
            <a:ext cx="8229600" cy="6126162"/>
          </a:xfrm>
        </p:spPr>
        <p:txBody>
          <a:bodyPr>
            <a:normAutofit fontScale="90000"/>
          </a:bodyPr>
          <a:lstStyle/>
          <a:p>
            <a:pPr lvl="0" algn="l"/>
            <a:r>
              <a:rPr lang="en-US" sz="3100" b="1" dirty="0"/>
              <a:t>The Interview </a:t>
            </a:r>
            <a:r>
              <a:rPr lang="en-US" sz="3100" b="1" dirty="0" smtClean="0"/>
              <a:t>Room</a:t>
            </a:r>
            <a:br>
              <a:rPr lang="en-US" sz="3100" b="1" dirty="0" smtClean="0"/>
            </a:br>
            <a:r>
              <a:rPr lang="en-US" sz="2700" dirty="0"/>
              <a:t/>
            </a:r>
            <a:br>
              <a:rPr lang="en-US" sz="2700" dirty="0"/>
            </a:br>
            <a:r>
              <a:rPr lang="en-US" sz="2700" dirty="0" smtClean="0"/>
              <a:t>-</a:t>
            </a:r>
            <a:r>
              <a:rPr lang="en-US" sz="2700" dirty="0"/>
              <a:t>	</a:t>
            </a:r>
            <a:r>
              <a:rPr lang="en-US" sz="2700" dirty="0" smtClean="0"/>
              <a:t>Knock </a:t>
            </a:r>
            <a:r>
              <a:rPr lang="en-US" sz="2700" dirty="0"/>
              <a:t>before you enter the interview room. The board </a:t>
            </a:r>
            <a:r>
              <a:rPr lang="en-US" sz="2700" dirty="0" smtClean="0"/>
              <a:t>	secretary </a:t>
            </a:r>
            <a:r>
              <a:rPr lang="en-US" sz="2700" dirty="0"/>
              <a:t>may do this for you</a:t>
            </a:r>
            <a:r>
              <a:rPr lang="en-US" sz="2700" dirty="0" smtClean="0"/>
              <a:t>.</a:t>
            </a:r>
            <a:r>
              <a:rPr lang="en-US" sz="2700" dirty="0"/>
              <a:t/>
            </a:r>
            <a:br>
              <a:rPr lang="en-US" sz="2700" dirty="0"/>
            </a:br>
            <a:r>
              <a:rPr lang="en-US" sz="2700" dirty="0" smtClean="0"/>
              <a:t>-	Enter </a:t>
            </a:r>
            <a:r>
              <a:rPr lang="en-US" sz="2700" dirty="0"/>
              <a:t>the room with confidence </a:t>
            </a:r>
            <a:br>
              <a:rPr lang="en-US" sz="2700" dirty="0"/>
            </a:br>
            <a:r>
              <a:rPr lang="en-US" sz="2700" dirty="0" smtClean="0"/>
              <a:t>-	Do </a:t>
            </a:r>
            <a:r>
              <a:rPr lang="en-US" sz="2700" dirty="0"/>
              <a:t>not take your seat before you have been told to do so.</a:t>
            </a:r>
            <a:br>
              <a:rPr lang="en-US" sz="2700" dirty="0"/>
            </a:br>
            <a:r>
              <a:rPr lang="en-US" sz="2700" dirty="0" smtClean="0"/>
              <a:t>	When </a:t>
            </a:r>
            <a:r>
              <a:rPr lang="en-US" sz="2700" dirty="0"/>
              <a:t>the board secretary introduces the interview panel </a:t>
            </a:r>
            <a:r>
              <a:rPr lang="en-US" sz="2700" dirty="0" smtClean="0"/>
              <a:t>	to </a:t>
            </a:r>
            <a:r>
              <a:rPr lang="en-US" sz="2700" dirty="0"/>
              <a:t>you, you will be greeted by the panel. Be sensitive to </a:t>
            </a:r>
            <a:r>
              <a:rPr lang="en-US" sz="2700" dirty="0" smtClean="0"/>
              <a:t>	address </a:t>
            </a:r>
            <a:r>
              <a:rPr lang="en-US" sz="2700" dirty="0"/>
              <a:t>them properly i.e. as sir or madam. Do not </a:t>
            </a:r>
            <a:r>
              <a:rPr lang="en-US" sz="2700" dirty="0" smtClean="0"/>
              <a:t>	respond </a:t>
            </a:r>
            <a:r>
              <a:rPr lang="en-US" sz="2700" dirty="0"/>
              <a:t>“good morning sir” when a lady on the panel </a:t>
            </a:r>
            <a:r>
              <a:rPr lang="en-US" sz="2700" dirty="0" smtClean="0"/>
              <a:t/>
            </a:r>
            <a:br>
              <a:rPr lang="en-US" sz="2700" dirty="0" smtClean="0"/>
            </a:br>
            <a:r>
              <a:rPr lang="en-US" sz="2700" dirty="0" smtClean="0"/>
              <a:t>	greets </a:t>
            </a:r>
            <a:r>
              <a:rPr lang="en-US" sz="2700" dirty="0"/>
              <a:t>you</a:t>
            </a:r>
            <a:r>
              <a:rPr lang="en-US" sz="2700" dirty="0" smtClean="0"/>
              <a:t>.</a:t>
            </a:r>
            <a:r>
              <a:rPr lang="en-US" sz="2700" dirty="0"/>
              <a:t/>
            </a:r>
            <a:br>
              <a:rPr lang="en-US" sz="2700" dirty="0"/>
            </a:br>
            <a:r>
              <a:rPr lang="en-US" sz="2700" dirty="0" smtClean="0"/>
              <a:t>-	Pay </a:t>
            </a:r>
            <a:r>
              <a:rPr lang="en-US" sz="2700" dirty="0"/>
              <a:t>attention as the secretary reads the details on the </a:t>
            </a:r>
            <a:r>
              <a:rPr lang="en-US" sz="2700" dirty="0" smtClean="0"/>
              <a:t>	registration </a:t>
            </a:r>
            <a:r>
              <a:rPr lang="en-US" sz="2700" dirty="0"/>
              <a:t>form and make the necessary corrections </a:t>
            </a:r>
            <a:r>
              <a:rPr lang="en-US" sz="2700" dirty="0" smtClean="0"/>
              <a:t>	there </a:t>
            </a:r>
            <a:r>
              <a:rPr lang="en-US" sz="2700" dirty="0"/>
              <a:t>and then.</a:t>
            </a:r>
            <a:br>
              <a:rPr lang="en-US" sz="2700" dirty="0"/>
            </a:br>
            <a:r>
              <a:rPr lang="en-US" sz="2700" dirty="0" smtClean="0"/>
              <a:t>-	</a:t>
            </a:r>
            <a:r>
              <a:rPr lang="en-US" sz="2700" dirty="0"/>
              <a:t>Show courtesy to everyone during the interview. You </a:t>
            </a:r>
            <a:r>
              <a:rPr lang="en-US" sz="2700" dirty="0" smtClean="0"/>
              <a:t>	never </a:t>
            </a:r>
            <a:r>
              <a:rPr lang="en-US" sz="2700" dirty="0"/>
              <a:t>know who has input in the hiring process, and you </a:t>
            </a:r>
            <a:r>
              <a:rPr lang="en-US" sz="2700" dirty="0" smtClean="0"/>
              <a:t>	can </a:t>
            </a:r>
            <a:r>
              <a:rPr lang="en-US" sz="2700" dirty="0"/>
              <a:t>only make a first impression once.</a:t>
            </a:r>
            <a:r>
              <a:rPr lang="en-US" dirty="0"/>
              <a:t/>
            </a:r>
            <a:br>
              <a:rPr lang="en-US" dirty="0"/>
            </a:br>
            <a:r>
              <a:rPr lang="en-US" dirty="0"/>
              <a:t/>
            </a:r>
            <a:br>
              <a:rPr lang="en-US" dirty="0"/>
            </a:br>
            <a:endParaRPr lang="en-US" dirty="0"/>
          </a:p>
        </p:txBody>
      </p:sp>
    </p:spTree>
    <p:extLst>
      <p:ext uri="{BB962C8B-B14F-4D97-AF65-F5344CB8AC3E}">
        <p14:creationId xmlns="" xmlns:p14="http://schemas.microsoft.com/office/powerpoint/2010/main" val="25771873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73762"/>
          </a:xfrm>
        </p:spPr>
        <p:txBody>
          <a:bodyPr>
            <a:normAutofit fontScale="90000"/>
          </a:bodyPr>
          <a:lstStyle/>
          <a:p>
            <a:pPr lvl="0" algn="l"/>
            <a:r>
              <a:rPr lang="en-US" sz="3100" dirty="0" smtClean="0"/>
              <a:t>-	</a:t>
            </a:r>
            <a:r>
              <a:rPr lang="en-US" sz="2700" dirty="0" smtClean="0"/>
              <a:t>Most </a:t>
            </a:r>
            <a:r>
              <a:rPr lang="en-US" sz="2700" dirty="0"/>
              <a:t>interview boards have The Chairperson, a </a:t>
            </a:r>
            <a:r>
              <a:rPr lang="en-US" sz="2700" dirty="0" smtClean="0"/>
              <a:t>	Ministry </a:t>
            </a:r>
            <a:r>
              <a:rPr lang="en-US" sz="2700" dirty="0"/>
              <a:t>Representative and an Independent </a:t>
            </a:r>
            <a:r>
              <a:rPr lang="en-US" sz="2700" dirty="0" smtClean="0"/>
              <a:t>	Member</a:t>
            </a:r>
            <a:r>
              <a:rPr lang="en-US" sz="2700" dirty="0"/>
              <a:t>. </a:t>
            </a:r>
            <a:r>
              <a:rPr lang="en-US" sz="2700" dirty="0" smtClean="0"/>
              <a:t/>
            </a:r>
            <a:br>
              <a:rPr lang="en-US" sz="2700" dirty="0" smtClean="0"/>
            </a:br>
            <a:r>
              <a:rPr lang="en-US" sz="2700" dirty="0" smtClean="0"/>
              <a:t/>
            </a:r>
            <a:br>
              <a:rPr lang="en-US" sz="2700" dirty="0" smtClean="0"/>
            </a:br>
            <a:r>
              <a:rPr lang="en-US" sz="2700" dirty="0" smtClean="0"/>
              <a:t>-	Usually the </a:t>
            </a:r>
            <a:r>
              <a:rPr lang="en-US" sz="2700" dirty="0"/>
              <a:t>Chairperson asks </a:t>
            </a:r>
            <a:r>
              <a:rPr lang="en-US" sz="2700"/>
              <a:t>the </a:t>
            </a:r>
            <a:r>
              <a:rPr lang="en-US" sz="2700" smtClean="0"/>
              <a:t>first question </a:t>
            </a:r>
            <a:r>
              <a:rPr lang="en-US" sz="2700" dirty="0"/>
              <a:t>on </a:t>
            </a:r>
            <a:r>
              <a:rPr lang="en-US" sz="2700"/>
              <a:t>your  </a:t>
            </a:r>
            <a:r>
              <a:rPr lang="en-US" sz="2700" smtClean="0"/>
              <a:t>	suitability </a:t>
            </a:r>
            <a:r>
              <a:rPr lang="en-US" sz="2700" dirty="0"/>
              <a:t>for the post </a:t>
            </a:r>
            <a:r>
              <a:rPr lang="en-US" sz="2700"/>
              <a:t>you </a:t>
            </a:r>
            <a:r>
              <a:rPr lang="en-US" sz="2700" smtClean="0"/>
              <a:t>applied </a:t>
            </a:r>
            <a:r>
              <a:rPr lang="en-US" sz="2700" dirty="0"/>
              <a:t>for and the duties </a:t>
            </a:r>
            <a:r>
              <a:rPr lang="en-US" sz="2700"/>
              <a:t>you </a:t>
            </a:r>
            <a:r>
              <a:rPr lang="en-US" sz="2700" smtClean="0"/>
              <a:t>	will </a:t>
            </a:r>
            <a:r>
              <a:rPr lang="en-US" sz="2700" dirty="0"/>
              <a:t>be required </a:t>
            </a:r>
            <a:r>
              <a:rPr lang="en-US" sz="2700"/>
              <a:t>to </a:t>
            </a:r>
            <a:r>
              <a:rPr lang="en-US" sz="2700" smtClean="0"/>
              <a:t>perform </a:t>
            </a:r>
            <a:r>
              <a:rPr lang="en-US" sz="2700" dirty="0"/>
              <a:t>if </a:t>
            </a:r>
            <a:r>
              <a:rPr lang="en-US" sz="2700" dirty="0" smtClean="0"/>
              <a:t>successful</a:t>
            </a:r>
            <a:br>
              <a:rPr lang="en-US" sz="2700" dirty="0" smtClean="0"/>
            </a:br>
            <a:r>
              <a:rPr lang="en-US" sz="2700" dirty="0"/>
              <a:t/>
            </a:r>
            <a:br>
              <a:rPr lang="en-US" sz="2700" dirty="0"/>
            </a:br>
            <a:r>
              <a:rPr lang="en-US" sz="2700" dirty="0" smtClean="0"/>
              <a:t>-	The </a:t>
            </a:r>
            <a:r>
              <a:rPr lang="en-US" sz="2700" dirty="0"/>
              <a:t>Ministry Representative asks practical </a:t>
            </a:r>
            <a:r>
              <a:rPr lang="en-US" sz="2700" dirty="0" smtClean="0"/>
              <a:t>	questions 	related </a:t>
            </a:r>
            <a:r>
              <a:rPr lang="en-US" sz="2700" dirty="0"/>
              <a:t>to your duties</a:t>
            </a:r>
            <a:r>
              <a:rPr lang="en-US" sz="2700" dirty="0" smtClean="0"/>
              <a:t>;</a:t>
            </a:r>
            <a:br>
              <a:rPr lang="en-US" sz="2700" dirty="0" smtClean="0"/>
            </a:br>
            <a:r>
              <a:rPr lang="en-US" sz="2700" dirty="0"/>
              <a:t/>
            </a:r>
            <a:br>
              <a:rPr lang="en-US" sz="2700" dirty="0"/>
            </a:br>
            <a:r>
              <a:rPr lang="en-US" sz="2700" dirty="0" smtClean="0"/>
              <a:t>-	While </a:t>
            </a:r>
            <a:r>
              <a:rPr lang="en-US" sz="2700" dirty="0"/>
              <a:t>the Independent Member may ask </a:t>
            </a:r>
            <a:r>
              <a:rPr lang="en-US" sz="2700" dirty="0" smtClean="0"/>
              <a:t>	situational 	questions </a:t>
            </a:r>
            <a:r>
              <a:rPr lang="en-US" sz="2700" dirty="0"/>
              <a:t>e.g. case studies; policy </a:t>
            </a:r>
            <a:r>
              <a:rPr lang="en-US" sz="2700" dirty="0" smtClean="0"/>
              <a:t>issues </a:t>
            </a:r>
            <a:r>
              <a:rPr lang="en-US" sz="2700" dirty="0"/>
              <a:t>and </a:t>
            </a:r>
            <a:r>
              <a:rPr lang="en-US" sz="2700" dirty="0" smtClean="0"/>
              <a:t>	procedures </a:t>
            </a:r>
            <a:r>
              <a:rPr lang="en-US" sz="2700" dirty="0"/>
              <a:t>related to the post applied </a:t>
            </a:r>
            <a:r>
              <a:rPr lang="en-US" sz="2700" dirty="0" smtClean="0"/>
              <a:t>for</a:t>
            </a:r>
            <a:r>
              <a:rPr lang="en-US" sz="2700" dirty="0"/>
              <a:t>.</a:t>
            </a:r>
            <a:r>
              <a:rPr lang="en-US" dirty="0"/>
              <a:t/>
            </a:r>
            <a:br>
              <a:rPr lang="en-US" dirty="0"/>
            </a:br>
            <a:endParaRPr lang="en-US" dirty="0"/>
          </a:p>
        </p:txBody>
      </p:sp>
    </p:spTree>
    <p:extLst>
      <p:ext uri="{BB962C8B-B14F-4D97-AF65-F5344CB8AC3E}">
        <p14:creationId xmlns="" xmlns:p14="http://schemas.microsoft.com/office/powerpoint/2010/main" val="38675759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rmAutofit fontScale="90000"/>
          </a:bodyPr>
          <a:lstStyle/>
          <a:p>
            <a:pPr algn="l"/>
            <a:r>
              <a:rPr lang="en-US" dirty="0"/>
              <a:t/>
            </a:r>
            <a:br>
              <a:rPr lang="en-US" dirty="0"/>
            </a:br>
            <a:r>
              <a:rPr lang="en-US" b="1" u="sng" dirty="0" smtClean="0"/>
              <a:t>INTERVIEW ASSESSMENT CRITERIA</a:t>
            </a:r>
            <a:br>
              <a:rPr lang="en-US" b="1" u="sng" dirty="0" smtClean="0"/>
            </a:br>
            <a:r>
              <a:rPr lang="en-US" b="1" u="sng" dirty="0" smtClean="0"/>
              <a:t/>
            </a:r>
            <a:br>
              <a:rPr lang="en-US" b="1" u="sng" dirty="0" smtClean="0"/>
            </a:br>
            <a:r>
              <a:rPr lang="en-US" sz="2700" dirty="0" smtClean="0"/>
              <a:t>Each </a:t>
            </a:r>
            <a:r>
              <a:rPr lang="en-US" sz="2700" dirty="0"/>
              <a:t>board member has two record </a:t>
            </a:r>
            <a:r>
              <a:rPr lang="en-US" sz="2700" dirty="0" smtClean="0"/>
              <a:t>sheets:</a:t>
            </a:r>
            <a:br>
              <a:rPr lang="en-US" sz="2700" dirty="0" smtClean="0"/>
            </a:br>
            <a:r>
              <a:rPr lang="en-US" sz="2700" dirty="0" smtClean="0"/>
              <a:t/>
            </a:r>
            <a:br>
              <a:rPr lang="en-US" sz="2700" dirty="0" smtClean="0"/>
            </a:br>
            <a:r>
              <a:rPr lang="en-US" sz="2700" dirty="0" smtClean="0"/>
              <a:t>(a) 	The candidate detail sheet, which </a:t>
            </a:r>
            <a:r>
              <a:rPr lang="en-US" sz="2700" dirty="0"/>
              <a:t>also contains </a:t>
            </a:r>
            <a:r>
              <a:rPr lang="en-US" sz="2700" dirty="0" smtClean="0"/>
              <a:t>the 	information </a:t>
            </a:r>
            <a:r>
              <a:rPr lang="en-US" sz="2700" dirty="0"/>
              <a:t>on your </a:t>
            </a:r>
            <a:r>
              <a:rPr lang="en-US" sz="2700" dirty="0" smtClean="0"/>
              <a:t>registration </a:t>
            </a:r>
            <a:r>
              <a:rPr lang="en-US" sz="2700" dirty="0"/>
              <a:t>form, is used for </a:t>
            </a:r>
            <a:r>
              <a:rPr lang="en-US" sz="2700" dirty="0" smtClean="0"/>
              <a:t>	recording </a:t>
            </a:r>
            <a:r>
              <a:rPr lang="en-US" sz="2700" dirty="0"/>
              <a:t>every response that </a:t>
            </a:r>
            <a:r>
              <a:rPr lang="en-US" sz="2700" dirty="0" smtClean="0"/>
              <a:t>you </a:t>
            </a:r>
            <a:r>
              <a:rPr lang="en-US" sz="2700" dirty="0"/>
              <a:t>provide almost </a:t>
            </a:r>
            <a:r>
              <a:rPr lang="en-US" sz="2700" dirty="0" smtClean="0"/>
              <a:t>	verbatim</a:t>
            </a:r>
            <a:r>
              <a:rPr lang="en-US" sz="2700" dirty="0"/>
              <a:t>. </a:t>
            </a:r>
            <a:r>
              <a:rPr lang="en-US" sz="2700" dirty="0" smtClean="0"/>
              <a:t/>
            </a:r>
            <a:br>
              <a:rPr lang="en-US" sz="2700" dirty="0" smtClean="0"/>
            </a:br>
            <a:r>
              <a:rPr lang="en-US" sz="2700" dirty="0" smtClean="0"/>
              <a:t>		</a:t>
            </a:r>
            <a:br>
              <a:rPr lang="en-US" sz="2700" dirty="0" smtClean="0"/>
            </a:br>
            <a:r>
              <a:rPr lang="en-US" sz="2700" dirty="0" smtClean="0"/>
              <a:t>(b) 	The interview assessment sheet for every candidate</a:t>
            </a:r>
            <a:r>
              <a:rPr lang="en-US" dirty="0"/>
              <a:t/>
            </a:r>
            <a:br>
              <a:rPr lang="en-US" dirty="0"/>
            </a:br>
            <a:r>
              <a:rPr lang="en-US" dirty="0"/>
              <a:t/>
            </a:r>
            <a:br>
              <a:rPr lang="en-US" dirty="0"/>
            </a:br>
            <a:endParaRPr lang="en-US" dirty="0"/>
          </a:p>
        </p:txBody>
      </p:sp>
    </p:spTree>
    <p:extLst>
      <p:ext uri="{BB962C8B-B14F-4D97-AF65-F5344CB8AC3E}">
        <p14:creationId xmlns="" xmlns:p14="http://schemas.microsoft.com/office/powerpoint/2010/main" val="5323697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440362"/>
          </a:xfrm>
        </p:spPr>
        <p:txBody>
          <a:bodyPr/>
          <a:lstStyle/>
          <a:p>
            <a:endParaRPr lang="en-US" dirty="0"/>
          </a:p>
        </p:txBody>
      </p:sp>
      <p:pic>
        <p:nvPicPr>
          <p:cNvPr id="2050"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57200" y="228600"/>
            <a:ext cx="8229600" cy="61245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17824684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97562"/>
          </a:xfrm>
        </p:spPr>
        <p:txBody>
          <a:bodyPr>
            <a:normAutofit fontScale="90000"/>
          </a:bodyPr>
          <a:lstStyle/>
          <a:p>
            <a:pPr algn="l"/>
            <a:r>
              <a:rPr lang="en-US" b="1" u="sng" dirty="0" smtClean="0"/>
              <a:t>The Actual Interview</a:t>
            </a:r>
            <a:br>
              <a:rPr lang="en-US" b="1" u="sng" dirty="0" smtClean="0"/>
            </a:br>
            <a:r>
              <a:rPr lang="en-US" b="1" u="sng" dirty="0" smtClean="0"/>
              <a:t/>
            </a:r>
            <a:br>
              <a:rPr lang="en-US" b="1" u="sng" dirty="0" smtClean="0"/>
            </a:br>
            <a:r>
              <a:rPr lang="en-US" sz="3600" dirty="0"/>
              <a:t>While interview questions are some of the most common, they are also some of the toughest.</a:t>
            </a:r>
            <a:br>
              <a:rPr lang="en-US" sz="3600" dirty="0"/>
            </a:br>
            <a:r>
              <a:rPr lang="en-US" sz="3600" dirty="0" smtClean="0"/>
              <a:t/>
            </a:r>
            <a:br>
              <a:rPr lang="en-US" sz="3600" dirty="0" smtClean="0"/>
            </a:br>
            <a:r>
              <a:rPr lang="en-US" sz="3600" dirty="0" smtClean="0"/>
              <a:t>Even </a:t>
            </a:r>
            <a:r>
              <a:rPr lang="en-US" sz="3600" dirty="0"/>
              <a:t>though they’re asked in most interviews, these questions often throw most people off for whatever reason because they don’t know exactly how to approach the answers.</a:t>
            </a:r>
            <a:r>
              <a:rPr lang="en-US" dirty="0"/>
              <a:t/>
            </a:r>
            <a:br>
              <a:rPr lang="en-US" dirty="0"/>
            </a:br>
            <a:endParaRPr lang="en-US" b="1" u="sng" dirty="0"/>
          </a:p>
        </p:txBody>
      </p:sp>
    </p:spTree>
    <p:extLst>
      <p:ext uri="{BB962C8B-B14F-4D97-AF65-F5344CB8AC3E}">
        <p14:creationId xmlns="" xmlns:p14="http://schemas.microsoft.com/office/powerpoint/2010/main" val="276356803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990600"/>
            <a:ext cx="8229600" cy="5867400"/>
          </a:xfrm>
        </p:spPr>
        <p:txBody>
          <a:bodyPr>
            <a:normAutofit fontScale="90000"/>
          </a:bodyPr>
          <a:lstStyle/>
          <a:p>
            <a:pPr algn="l"/>
            <a:r>
              <a:rPr lang="en-US" sz="2700" b="1" dirty="0"/>
              <a:t>AS THE ACTUAL INTERVIEW STARTS</a:t>
            </a:r>
            <a:r>
              <a:rPr lang="en-US" sz="2700" dirty="0"/>
              <a:t/>
            </a:r>
            <a:br>
              <a:rPr lang="en-US" sz="2700" dirty="0"/>
            </a:br>
            <a:r>
              <a:rPr lang="en-US" sz="2700" dirty="0" smtClean="0"/>
              <a:t/>
            </a:r>
            <a:br>
              <a:rPr lang="en-US" sz="2700" dirty="0" smtClean="0"/>
            </a:br>
            <a:r>
              <a:rPr lang="en-US" sz="2700" dirty="0" smtClean="0"/>
              <a:t>Look </a:t>
            </a:r>
            <a:r>
              <a:rPr lang="en-US" sz="2700" dirty="0"/>
              <a:t>everyone in the eye and smile. Looking people in the eye telegraphs alertness, and smiling will signal friendliness.</a:t>
            </a:r>
            <a:br>
              <a:rPr lang="en-US" sz="2700" dirty="0"/>
            </a:br>
            <a:r>
              <a:rPr lang="en-US" sz="2700" dirty="0"/>
              <a:t> </a:t>
            </a:r>
            <a:br>
              <a:rPr lang="en-US" sz="2700" dirty="0"/>
            </a:br>
            <a:r>
              <a:rPr lang="en-US" sz="2700" dirty="0"/>
              <a:t>Do not rush into answering the question before you understand what it entails. Politely request the interviewer to repeat the question if you did not get it right. </a:t>
            </a:r>
            <a:br>
              <a:rPr lang="en-US" sz="2700" dirty="0"/>
            </a:br>
            <a:r>
              <a:rPr lang="en-US" sz="2700" dirty="0"/>
              <a:t> </a:t>
            </a:r>
            <a:r>
              <a:rPr lang="en-US" sz="2700" dirty="0" smtClean="0"/>
              <a:t/>
            </a:r>
            <a:br>
              <a:rPr lang="en-US" sz="2700" dirty="0" smtClean="0"/>
            </a:br>
            <a:r>
              <a:rPr lang="en-US" sz="2700" dirty="0" smtClean="0"/>
              <a:t>For general questions that have not stipulated the number of points you must give, say as much as you can. For the specific questions, give at least all the points that are required, and actually number them either as </a:t>
            </a:r>
            <a:r>
              <a:rPr lang="en-US" sz="2700" dirty="0" err="1" smtClean="0"/>
              <a:t>i</a:t>
            </a:r>
            <a:r>
              <a:rPr lang="en-US" sz="2700" dirty="0" smtClean="0"/>
              <a:t>….; 2…..; 3……; 4……. Or firstly, secondly, thirdly, fourthly, so on and so forth</a:t>
            </a:r>
            <a:r>
              <a:rPr lang="en-US" sz="3100" dirty="0"/>
              <a:t/>
            </a:r>
            <a:br>
              <a:rPr lang="en-US" sz="3100" dirty="0"/>
            </a:br>
            <a:r>
              <a:rPr lang="en-US" sz="2700" dirty="0"/>
              <a:t/>
            </a:r>
            <a:br>
              <a:rPr lang="en-US" sz="2700" dirty="0"/>
            </a:br>
            <a:r>
              <a:rPr lang="en-US" sz="2700" dirty="0"/>
              <a:t> </a:t>
            </a:r>
            <a:br>
              <a:rPr lang="en-US" sz="2700" dirty="0"/>
            </a:br>
            <a:endParaRPr lang="en-US" dirty="0"/>
          </a:p>
        </p:txBody>
      </p:sp>
    </p:spTree>
    <p:extLst>
      <p:ext uri="{BB962C8B-B14F-4D97-AF65-F5344CB8AC3E}">
        <p14:creationId xmlns="" xmlns:p14="http://schemas.microsoft.com/office/powerpoint/2010/main" val="239746094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4636"/>
            <a:ext cx="8229600" cy="5745162"/>
          </a:xfrm>
        </p:spPr>
        <p:txBody>
          <a:bodyPr>
            <a:noAutofit/>
          </a:bodyPr>
          <a:lstStyle/>
          <a:p>
            <a:pPr algn="l"/>
            <a:r>
              <a:rPr lang="en-US" sz="2800" dirty="0" smtClean="0"/>
              <a:t/>
            </a:r>
            <a:br>
              <a:rPr lang="en-US" sz="2800" dirty="0" smtClean="0"/>
            </a:br>
            <a:r>
              <a:rPr lang="en-US" sz="2800" dirty="0" smtClean="0"/>
              <a:t> </a:t>
            </a:r>
            <a:br>
              <a:rPr lang="en-US" sz="2800" dirty="0" smtClean="0"/>
            </a:br>
            <a:r>
              <a:rPr lang="en-US" sz="2000" dirty="0" smtClean="0"/>
              <a:t>If you can only manage to provide few answers required at that particular time, request the chairperson if he/she could accord you another opportunity to respond to the question again at the opportune time within the interview time.</a:t>
            </a:r>
            <a:br>
              <a:rPr lang="en-US" sz="2000" dirty="0" smtClean="0"/>
            </a:br>
            <a:r>
              <a:rPr lang="en-US" sz="2000" dirty="0" smtClean="0"/>
              <a:t/>
            </a:r>
            <a:br>
              <a:rPr lang="en-US" sz="2000" dirty="0" smtClean="0"/>
            </a:br>
            <a:r>
              <a:rPr lang="en-US" sz="2000" dirty="0" smtClean="0"/>
              <a:t>Do not be too fast in answering the questions because what you say is documented almost verbatim by each member of the interview board. Say “thank you” at the end of each response to signal that you are done with that particular question.</a:t>
            </a:r>
            <a:br>
              <a:rPr lang="en-US" sz="2000" dirty="0" smtClean="0"/>
            </a:br>
            <a:r>
              <a:rPr lang="en-US" sz="2000" dirty="0" smtClean="0"/>
              <a:t/>
            </a:r>
            <a:br>
              <a:rPr lang="en-US" sz="2000" dirty="0" smtClean="0"/>
            </a:br>
            <a:r>
              <a:rPr lang="en-US" sz="2000" dirty="0" smtClean="0"/>
              <a:t>If the chairperson requests you to ask to any question at the end of the interview, and you have nothing to ask, thank the Commission for having shortlisted you to be interviewed and the interview board for taking their time to interview you. </a:t>
            </a:r>
            <a:br>
              <a:rPr lang="en-US" sz="2000" dirty="0" smtClean="0"/>
            </a:br>
            <a:r>
              <a:rPr lang="en-US" sz="2000" dirty="0" smtClean="0"/>
              <a:t/>
            </a:r>
            <a:br>
              <a:rPr lang="en-US" sz="2000" dirty="0" smtClean="0"/>
            </a:br>
            <a:r>
              <a:rPr lang="en-US" sz="2000" dirty="0" smtClean="0"/>
              <a:t>Make sure all your documents have been collected as you leave the interview venue.</a:t>
            </a:r>
            <a:endParaRPr lang="en-US" sz="2000" dirty="0"/>
          </a:p>
        </p:txBody>
      </p:sp>
    </p:spTree>
    <p:extLst>
      <p:ext uri="{BB962C8B-B14F-4D97-AF65-F5344CB8AC3E}">
        <p14:creationId xmlns="" xmlns:p14="http://schemas.microsoft.com/office/powerpoint/2010/main" val="13603496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78562"/>
          </a:xfrm>
        </p:spPr>
        <p:txBody>
          <a:bodyPr>
            <a:normAutofit/>
          </a:bodyPr>
          <a:lstStyle/>
          <a:p>
            <a:pPr algn="l"/>
            <a:r>
              <a:rPr lang="en-US" dirty="0" smtClean="0"/>
              <a:t/>
            </a:r>
            <a:br>
              <a:rPr lang="en-US" dirty="0" smtClean="0"/>
            </a:br>
            <a:endParaRPr lang="en-US" dirty="0"/>
          </a:p>
        </p:txBody>
      </p:sp>
      <p:sp>
        <p:nvSpPr>
          <p:cNvPr id="4" name="Rectangle 3"/>
          <p:cNvSpPr/>
          <p:nvPr/>
        </p:nvSpPr>
        <p:spPr>
          <a:xfrm>
            <a:off x="547255" y="363915"/>
            <a:ext cx="7924800" cy="6247864"/>
          </a:xfrm>
          <a:prstGeom prst="rect">
            <a:avLst/>
          </a:prstGeom>
        </p:spPr>
        <p:txBody>
          <a:bodyPr wrap="square">
            <a:spAutoFit/>
          </a:bodyPr>
          <a:lstStyle/>
          <a:p>
            <a:r>
              <a:rPr lang="en-US" sz="3200" b="1" dirty="0"/>
              <a:t>THE MOST COMMON GENERAL </a:t>
            </a:r>
            <a:r>
              <a:rPr lang="en-US" sz="3200" b="1" dirty="0" smtClean="0"/>
              <a:t>QUESTIONS</a:t>
            </a:r>
          </a:p>
          <a:p>
            <a:endParaRPr lang="en-US" sz="3200" dirty="0"/>
          </a:p>
          <a:p>
            <a:pPr marL="514350" lvl="0" indent="-514350">
              <a:buAutoNum type="arabicPeriod"/>
            </a:pPr>
            <a:r>
              <a:rPr lang="en-US" sz="2800" dirty="0" smtClean="0"/>
              <a:t>Explain </a:t>
            </a:r>
            <a:r>
              <a:rPr lang="en-US" sz="2800" dirty="0"/>
              <a:t>briefly why you think you are the </a:t>
            </a:r>
            <a:r>
              <a:rPr lang="en-US" sz="2800" dirty="0" smtClean="0"/>
              <a:t>	most </a:t>
            </a:r>
            <a:r>
              <a:rPr lang="en-US" sz="2800" dirty="0"/>
              <a:t>suitable candidate for this post</a:t>
            </a:r>
            <a:r>
              <a:rPr lang="en-US" sz="2800" dirty="0" smtClean="0"/>
              <a:t>.</a:t>
            </a:r>
          </a:p>
          <a:p>
            <a:pPr lvl="0"/>
            <a:endParaRPr lang="en-US" sz="2800" dirty="0"/>
          </a:p>
          <a:p>
            <a:pPr marL="514350" lvl="0" indent="-514350">
              <a:buAutoNum type="arabicPeriod" startAt="2"/>
            </a:pPr>
            <a:r>
              <a:rPr lang="en-US" sz="2800" dirty="0" smtClean="0"/>
              <a:t>Why </a:t>
            </a:r>
            <a:r>
              <a:rPr lang="en-US" sz="2800" dirty="0"/>
              <a:t>would you consider the Teaching </a:t>
            </a:r>
            <a:r>
              <a:rPr lang="en-US" sz="2800" dirty="0" smtClean="0"/>
              <a:t>	Service </a:t>
            </a:r>
            <a:r>
              <a:rPr lang="en-US" sz="2800" dirty="0"/>
              <a:t>Commission unfair if they did not </a:t>
            </a:r>
            <a:r>
              <a:rPr lang="en-US" sz="2800" dirty="0" smtClean="0"/>
              <a:t>	invite </a:t>
            </a:r>
            <a:r>
              <a:rPr lang="en-US" sz="2800" dirty="0"/>
              <a:t>you for this </a:t>
            </a:r>
            <a:r>
              <a:rPr lang="en-US" sz="2800" dirty="0" smtClean="0"/>
              <a:t>interview?</a:t>
            </a:r>
          </a:p>
          <a:p>
            <a:pPr lvl="0"/>
            <a:endParaRPr lang="en-US" sz="2800" dirty="0" smtClean="0"/>
          </a:p>
          <a:p>
            <a:pPr marL="514350" lvl="0" indent="-514350">
              <a:buAutoNum type="arabicPeriod" startAt="3"/>
            </a:pPr>
            <a:r>
              <a:rPr lang="en-US" sz="2800" dirty="0" smtClean="0"/>
              <a:t>Why </a:t>
            </a:r>
            <a:r>
              <a:rPr lang="en-US" sz="2800" dirty="0"/>
              <a:t>do you want to be engaged for the </a:t>
            </a:r>
            <a:r>
              <a:rPr lang="en-US" sz="2800" dirty="0" smtClean="0"/>
              <a:t>	vacancy </a:t>
            </a:r>
            <a:r>
              <a:rPr lang="en-US" sz="2800" dirty="0"/>
              <a:t>that you applied for</a:t>
            </a:r>
            <a:r>
              <a:rPr lang="en-US" sz="2800" dirty="0" smtClean="0"/>
              <a:t>?</a:t>
            </a:r>
          </a:p>
          <a:p>
            <a:pPr lvl="0"/>
            <a:endParaRPr lang="en-US" sz="2800" dirty="0"/>
          </a:p>
          <a:p>
            <a:pPr lvl="0"/>
            <a:r>
              <a:rPr lang="en-US" sz="2800" dirty="0" smtClean="0"/>
              <a:t>4.	What </a:t>
            </a:r>
            <a:r>
              <a:rPr lang="en-US" sz="2800" dirty="0"/>
              <a:t>have you been doing in the past </a:t>
            </a:r>
            <a:r>
              <a:rPr lang="en-US" sz="2800" dirty="0" smtClean="0"/>
              <a:t>	two </a:t>
            </a:r>
            <a:r>
              <a:rPr lang="en-US" sz="2800" dirty="0"/>
              <a:t>years?</a:t>
            </a:r>
          </a:p>
        </p:txBody>
      </p:sp>
    </p:spTree>
    <p:extLst>
      <p:ext uri="{BB962C8B-B14F-4D97-AF65-F5344CB8AC3E}">
        <p14:creationId xmlns="" xmlns:p14="http://schemas.microsoft.com/office/powerpoint/2010/main" val="122898273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02362"/>
          </a:xfrm>
        </p:spPr>
        <p:txBody>
          <a:bodyPr>
            <a:noAutofit/>
          </a:bodyPr>
          <a:lstStyle/>
          <a:p>
            <a:pPr algn="l"/>
            <a:r>
              <a:rPr lang="en-US" sz="3200" b="1" dirty="0"/>
              <a:t>What the interviewer is looking </a:t>
            </a:r>
            <a:r>
              <a:rPr lang="en-US" sz="3200" b="1" dirty="0" smtClean="0"/>
              <a:t>for</a:t>
            </a:r>
            <a:br>
              <a:rPr lang="en-US" sz="3200" b="1" dirty="0" smtClean="0"/>
            </a:br>
            <a:r>
              <a:rPr lang="en-US" sz="3200" dirty="0"/>
              <a:t/>
            </a:r>
            <a:br>
              <a:rPr lang="en-US" sz="3200" dirty="0"/>
            </a:br>
            <a:r>
              <a:rPr lang="en-US" sz="2400" b="1" dirty="0"/>
              <a:t>What the candidate is worth</a:t>
            </a:r>
            <a:r>
              <a:rPr lang="en-US" sz="2400" dirty="0"/>
              <a:t>: - qualifications, experiences, special attributes (team building, integrity, honesty)</a:t>
            </a:r>
            <a:br>
              <a:rPr lang="en-US" sz="2400" dirty="0"/>
            </a:br>
            <a:r>
              <a:rPr lang="en-US" sz="2400" dirty="0" smtClean="0"/>
              <a:t/>
            </a:r>
            <a:br>
              <a:rPr lang="en-US" sz="2400" dirty="0" smtClean="0"/>
            </a:br>
            <a:r>
              <a:rPr lang="en-US" sz="2400" b="1" dirty="0" smtClean="0"/>
              <a:t>Vision</a:t>
            </a:r>
            <a:r>
              <a:rPr lang="en-US" sz="2400" dirty="0"/>
              <a:t/>
            </a:r>
            <a:br>
              <a:rPr lang="en-US" sz="2400" dirty="0"/>
            </a:br>
            <a:r>
              <a:rPr lang="en-US" sz="2400" dirty="0" smtClean="0"/>
              <a:t/>
            </a:r>
            <a:br>
              <a:rPr lang="en-US" sz="2400" dirty="0" smtClean="0"/>
            </a:br>
            <a:r>
              <a:rPr lang="en-US" sz="2400" b="1" dirty="0" smtClean="0"/>
              <a:t>Achievements</a:t>
            </a:r>
            <a:r>
              <a:rPr lang="en-US" sz="2400" b="1" dirty="0"/>
              <a:t>: </a:t>
            </a:r>
            <a:r>
              <a:rPr lang="en-US" sz="2400" dirty="0"/>
              <a:t>success stories of efficiency/accomplishments </a:t>
            </a:r>
            <a:br>
              <a:rPr lang="en-US" sz="2400" dirty="0"/>
            </a:br>
            <a:r>
              <a:rPr lang="en-US" sz="2400" dirty="0" smtClean="0"/>
              <a:t/>
            </a:r>
            <a:br>
              <a:rPr lang="en-US" sz="2400" dirty="0" smtClean="0"/>
            </a:br>
            <a:r>
              <a:rPr lang="en-US" sz="2400" b="1" dirty="0" smtClean="0"/>
              <a:t>Passion </a:t>
            </a:r>
            <a:r>
              <a:rPr lang="en-US" sz="2400" b="1" dirty="0"/>
              <a:t>for the profession: </a:t>
            </a:r>
            <a:r>
              <a:rPr lang="en-US" sz="2400" dirty="0"/>
              <a:t>commitment to make students succeed</a:t>
            </a:r>
            <a:br>
              <a:rPr lang="en-US" sz="2400" dirty="0"/>
            </a:br>
            <a:r>
              <a:rPr lang="en-US" sz="2400" dirty="0" smtClean="0"/>
              <a:t/>
            </a:r>
            <a:br>
              <a:rPr lang="en-US" sz="2400" dirty="0" smtClean="0"/>
            </a:br>
            <a:r>
              <a:rPr lang="en-US" sz="2400" b="1" dirty="0" smtClean="0"/>
              <a:t>Work </a:t>
            </a:r>
            <a:r>
              <a:rPr lang="en-US" sz="2400" b="1" dirty="0"/>
              <a:t>ethics and values</a:t>
            </a:r>
            <a:br>
              <a:rPr lang="en-US" sz="2400" b="1" dirty="0"/>
            </a:br>
            <a:r>
              <a:rPr lang="en-US" sz="2400" dirty="0" smtClean="0"/>
              <a:t/>
            </a:r>
            <a:br>
              <a:rPr lang="en-US" sz="2400" dirty="0" smtClean="0"/>
            </a:br>
            <a:r>
              <a:rPr lang="en-US" sz="2400" b="1" dirty="0" smtClean="0"/>
              <a:t>Extra-curricular </a:t>
            </a:r>
            <a:r>
              <a:rPr lang="en-US" sz="2400" b="1" dirty="0"/>
              <a:t>activities</a:t>
            </a:r>
          </a:p>
        </p:txBody>
      </p:sp>
    </p:spTree>
    <p:extLst>
      <p:ext uri="{BB962C8B-B14F-4D97-AF65-F5344CB8AC3E}">
        <p14:creationId xmlns="" xmlns:p14="http://schemas.microsoft.com/office/powerpoint/2010/main" val="8503738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1362"/>
          </a:xfrm>
        </p:spPr>
        <p:txBody>
          <a:bodyPr>
            <a:normAutofit fontScale="90000"/>
          </a:bodyPr>
          <a:lstStyle/>
          <a:p>
            <a:pPr algn="l"/>
            <a:r>
              <a:rPr lang="en-US" sz="2700" b="1" dirty="0"/>
              <a:t>Common wrong </a:t>
            </a:r>
            <a:r>
              <a:rPr lang="en-US" sz="2700" b="1" dirty="0" smtClean="0"/>
              <a:t>responses</a:t>
            </a:r>
            <a:br>
              <a:rPr lang="en-US" sz="2700" b="1" dirty="0" smtClean="0"/>
            </a:br>
            <a:r>
              <a:rPr lang="en-US" sz="2700" dirty="0"/>
              <a:t/>
            </a:r>
            <a:br>
              <a:rPr lang="en-US" sz="2700" dirty="0"/>
            </a:br>
            <a:r>
              <a:rPr lang="en-US" sz="2700" dirty="0"/>
              <a:t>I am the most suitable candidate because you invited me to feel the vacant post</a:t>
            </a:r>
            <a:r>
              <a:rPr lang="en-US" sz="2700" dirty="0" smtClean="0"/>
              <a:t>.</a:t>
            </a:r>
            <a:br>
              <a:rPr lang="en-US" sz="2700" dirty="0" smtClean="0"/>
            </a:br>
            <a:r>
              <a:rPr lang="en-US" sz="2700" dirty="0" smtClean="0"/>
              <a:t> </a:t>
            </a:r>
            <a:r>
              <a:rPr lang="en-US" sz="2700" dirty="0"/>
              <a:t/>
            </a:r>
            <a:br>
              <a:rPr lang="en-US" sz="2700" dirty="0"/>
            </a:br>
            <a:r>
              <a:rPr lang="en-US" sz="2700" dirty="0"/>
              <a:t>You already know that a degree holder is at grade TI and I don’t know why you invited me for this interview when I already qualify</a:t>
            </a:r>
            <a:r>
              <a:rPr lang="en-US" sz="2700" dirty="0" smtClean="0"/>
              <a:t>.</a:t>
            </a:r>
            <a:br>
              <a:rPr lang="en-US" sz="2700" dirty="0" smtClean="0"/>
            </a:br>
            <a:r>
              <a:rPr lang="en-US" sz="2700" dirty="0"/>
              <a:t/>
            </a:r>
            <a:br>
              <a:rPr lang="en-US" sz="2700" dirty="0"/>
            </a:br>
            <a:r>
              <a:rPr lang="en-US" sz="2700" dirty="0"/>
              <a:t>The Teaching Service Commission would be unfair to leave me out because I have stayed at the same grade for many years and I want to be </a:t>
            </a:r>
            <a:r>
              <a:rPr lang="en-US" sz="2700" dirty="0" smtClean="0"/>
              <a:t>promoted</a:t>
            </a:r>
            <a:br>
              <a:rPr lang="en-US" sz="2700" dirty="0" smtClean="0"/>
            </a:br>
            <a:r>
              <a:rPr lang="en-US" sz="2700" dirty="0"/>
              <a:t/>
            </a:r>
            <a:br>
              <a:rPr lang="en-US" sz="2700" dirty="0"/>
            </a:br>
            <a:r>
              <a:rPr lang="en-US" sz="2700" dirty="0"/>
              <a:t>Promotion is a motivation. It would make me earn a little more and work harder</a:t>
            </a:r>
            <a:r>
              <a:rPr lang="en-US" dirty="0"/>
              <a:t/>
            </a:r>
            <a:br>
              <a:rPr lang="en-US" dirty="0"/>
            </a:br>
            <a:endParaRPr lang="en-US" dirty="0"/>
          </a:p>
        </p:txBody>
      </p:sp>
    </p:spTree>
    <p:extLst>
      <p:ext uri="{BB962C8B-B14F-4D97-AF65-F5344CB8AC3E}">
        <p14:creationId xmlns="" xmlns:p14="http://schemas.microsoft.com/office/powerpoint/2010/main" val="267319509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rmAutofit fontScale="90000"/>
          </a:bodyPr>
          <a:lstStyle/>
          <a:p>
            <a:pPr algn="l"/>
            <a:r>
              <a:rPr lang="en-US" sz="3600" b="1" dirty="0"/>
              <a:t>Common average </a:t>
            </a:r>
            <a:r>
              <a:rPr lang="en-US" sz="3600" b="1" dirty="0" smtClean="0"/>
              <a:t>responses</a:t>
            </a:r>
            <a:r>
              <a:rPr lang="en-US" sz="2700" b="1" dirty="0" smtClean="0"/>
              <a:t/>
            </a:r>
            <a:br>
              <a:rPr lang="en-US" sz="2700" b="1" dirty="0" smtClean="0"/>
            </a:br>
            <a:r>
              <a:rPr lang="en-US" sz="2700" dirty="0"/>
              <a:t/>
            </a:r>
            <a:br>
              <a:rPr lang="en-US" sz="2700" dirty="0"/>
            </a:br>
            <a:r>
              <a:rPr lang="en-US" sz="2700" dirty="0"/>
              <a:t>(a)  	I am the most suitable candidate for the post </a:t>
            </a:r>
            <a:r>
              <a:rPr lang="en-US" sz="2700" dirty="0" smtClean="0"/>
              <a:t>	because I qualify </a:t>
            </a:r>
            <a:r>
              <a:rPr lang="en-US" sz="2700" dirty="0"/>
              <a:t>and have taught for many years</a:t>
            </a:r>
            <a:r>
              <a:rPr lang="en-US" sz="2700" dirty="0" smtClean="0"/>
              <a:t>;</a:t>
            </a:r>
            <a:br>
              <a:rPr lang="en-US" sz="2700" dirty="0" smtClean="0"/>
            </a:br>
            <a:r>
              <a:rPr lang="en-US" sz="2700" dirty="0" smtClean="0"/>
              <a:t> </a:t>
            </a:r>
            <a:r>
              <a:rPr lang="en-US" sz="2700" dirty="0"/>
              <a:t/>
            </a:r>
            <a:br>
              <a:rPr lang="en-US" sz="2700" dirty="0"/>
            </a:br>
            <a:r>
              <a:rPr lang="en-US" sz="2700" dirty="0" smtClean="0"/>
              <a:t>(b)	I </a:t>
            </a:r>
            <a:r>
              <a:rPr lang="en-US" sz="2700" dirty="0"/>
              <a:t>have experience to do the job. </a:t>
            </a:r>
            <a:r>
              <a:rPr lang="en-US" sz="2700" dirty="0" smtClean="0"/>
              <a:t/>
            </a:r>
            <a:br>
              <a:rPr lang="en-US" sz="2700" dirty="0" smtClean="0"/>
            </a:br>
            <a:r>
              <a:rPr lang="en-US" sz="2700" dirty="0"/>
              <a:t/>
            </a:r>
            <a:br>
              <a:rPr lang="en-US" sz="2700" dirty="0"/>
            </a:br>
            <a:r>
              <a:rPr lang="en-US" sz="2700" dirty="0" smtClean="0"/>
              <a:t>(c)	I </a:t>
            </a:r>
            <a:r>
              <a:rPr lang="en-US" sz="2700" dirty="0"/>
              <a:t>do everything that the head teacher delegates  </a:t>
            </a:r>
            <a:r>
              <a:rPr lang="en-US" sz="2700" dirty="0" smtClean="0"/>
              <a:t>to </a:t>
            </a:r>
            <a:r>
              <a:rPr lang="en-US" sz="2700" dirty="0"/>
              <a:t>me </a:t>
            </a:r>
            <a:r>
              <a:rPr lang="en-US" sz="2700" dirty="0" smtClean="0"/>
              <a:t/>
            </a:r>
            <a:br>
              <a:rPr lang="en-US" sz="2700" dirty="0" smtClean="0"/>
            </a:br>
            <a:r>
              <a:rPr lang="en-US" sz="2700" dirty="0"/>
              <a:t/>
            </a:r>
            <a:br>
              <a:rPr lang="en-US" sz="2700" dirty="0"/>
            </a:br>
            <a:r>
              <a:rPr lang="en-US" sz="2700" dirty="0" smtClean="0"/>
              <a:t>(d)	I </a:t>
            </a:r>
            <a:r>
              <a:rPr lang="en-US" sz="2700" dirty="0"/>
              <a:t>work with minimum supervision but maximum </a:t>
            </a:r>
            <a:r>
              <a:rPr lang="en-US" sz="2700" dirty="0" smtClean="0"/>
              <a:t>	output</a:t>
            </a:r>
            <a:br>
              <a:rPr lang="en-US" sz="2700" dirty="0" smtClean="0"/>
            </a:br>
            <a:r>
              <a:rPr lang="en-US" sz="2700" dirty="0"/>
              <a:t/>
            </a:r>
            <a:br>
              <a:rPr lang="en-US" sz="2700" dirty="0"/>
            </a:br>
            <a:r>
              <a:rPr lang="en-US" sz="2700" dirty="0" smtClean="0"/>
              <a:t>(e)	I </a:t>
            </a:r>
            <a:r>
              <a:rPr lang="en-US" sz="2700" dirty="0"/>
              <a:t>am a man of integrity, full of honesty and </a:t>
            </a:r>
            <a:r>
              <a:rPr lang="en-US" sz="2700" dirty="0" smtClean="0"/>
              <a:t>hardworking</a:t>
            </a:r>
            <a:r>
              <a:rPr lang="en-US" dirty="0"/>
              <a:t/>
            </a:r>
            <a:br>
              <a:rPr lang="en-US" dirty="0"/>
            </a:br>
            <a:endParaRPr lang="en-US" dirty="0"/>
          </a:p>
        </p:txBody>
      </p:sp>
    </p:spTree>
    <p:extLst>
      <p:ext uri="{BB962C8B-B14F-4D97-AF65-F5344CB8AC3E}">
        <p14:creationId xmlns="" xmlns:p14="http://schemas.microsoft.com/office/powerpoint/2010/main" val="266481261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rmAutofit fontScale="90000"/>
          </a:bodyPr>
          <a:lstStyle/>
          <a:p>
            <a:pPr algn="l"/>
            <a:r>
              <a:rPr lang="en-US" sz="3100" b="1" dirty="0"/>
              <a:t>Acceptable responses</a:t>
            </a:r>
            <a:r>
              <a:rPr lang="en-US" sz="3100" dirty="0"/>
              <a:t/>
            </a:r>
            <a:br>
              <a:rPr lang="en-US" sz="3100" dirty="0"/>
            </a:br>
            <a:r>
              <a:rPr lang="en-US" sz="3100" dirty="0" smtClean="0"/>
              <a:t/>
            </a:r>
            <a:br>
              <a:rPr lang="en-US" sz="3100" dirty="0" smtClean="0"/>
            </a:br>
            <a:r>
              <a:rPr lang="en-US" sz="2700" dirty="0" smtClean="0"/>
              <a:t>In </a:t>
            </a:r>
            <a:r>
              <a:rPr lang="en-US" sz="2700" dirty="0"/>
              <a:t>your advertisement for the post, you wanted a holder of any of the following degrees: </a:t>
            </a:r>
            <a:r>
              <a:rPr lang="en-US" sz="2700" dirty="0" smtClean="0"/>
              <a:t>Bachelor </a:t>
            </a:r>
            <a:r>
              <a:rPr lang="en-US" sz="2700" dirty="0"/>
              <a:t>of Education, Bachelor of Science (Education) and Bachelor of Arts. I have a Bachelor of Education degree which I obtained at Chancellor College in 2008 with majors in English and Theology. I also have a Diploma in Education and a teaching certificate.</a:t>
            </a:r>
            <a:r>
              <a:rPr lang="en-US" sz="3100" dirty="0"/>
              <a:t/>
            </a:r>
            <a:br>
              <a:rPr lang="en-US" sz="3100" dirty="0"/>
            </a:br>
            <a:r>
              <a:rPr lang="en-US" sz="3100" dirty="0"/>
              <a:t> </a:t>
            </a:r>
            <a:br>
              <a:rPr lang="en-US" sz="3100" dirty="0"/>
            </a:br>
            <a:r>
              <a:rPr lang="en-US" sz="2700" dirty="0"/>
              <a:t>The advert also asked for someone who is a serving teacher at TL, TK, and TJ grade. I have served for 8 years at TJ grade.</a:t>
            </a:r>
            <a:r>
              <a:rPr lang="en-US" sz="4000" dirty="0"/>
              <a:t/>
            </a:r>
            <a:br>
              <a:rPr lang="en-US" sz="4000" dirty="0"/>
            </a:br>
            <a:endParaRPr lang="en-US" sz="4000" dirty="0"/>
          </a:p>
        </p:txBody>
      </p:sp>
    </p:spTree>
    <p:extLst>
      <p:ext uri="{BB962C8B-B14F-4D97-AF65-F5344CB8AC3E}">
        <p14:creationId xmlns="" xmlns:p14="http://schemas.microsoft.com/office/powerpoint/2010/main" val="129319403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02362"/>
          </a:xfrm>
        </p:spPr>
        <p:txBody>
          <a:bodyPr>
            <a:normAutofit fontScale="90000"/>
          </a:bodyPr>
          <a:lstStyle/>
          <a:p>
            <a:pPr lvl="0" algn="l"/>
            <a:r>
              <a:rPr lang="en-US" sz="3100" dirty="0"/>
              <a:t>I have wide experience as a teacher. I have taught my subjects of specialization, that is, English and Bible Knowledge in both the Junior and Senior sections for 20 years.</a:t>
            </a:r>
            <a:br>
              <a:rPr lang="en-US" sz="3100" dirty="0"/>
            </a:br>
            <a:r>
              <a:rPr lang="en-US" sz="3100" dirty="0"/>
              <a:t> </a:t>
            </a:r>
            <a:br>
              <a:rPr lang="en-US" sz="3100" dirty="0"/>
            </a:br>
            <a:r>
              <a:rPr lang="en-US" sz="3100" dirty="0"/>
              <a:t>I have been very successful in these subjects. For example, in the 2014 MSCE examinations, I produced 35 distinctions in English, and only two failed. In 2015, I repeated my success story and everybody passed. I had 40 distinctions in the subject. You can verify this information with my school authorities.</a:t>
            </a:r>
            <a:r>
              <a:rPr lang="en-US" dirty="0"/>
              <a:t/>
            </a:r>
            <a:br>
              <a:rPr lang="en-US" dirty="0"/>
            </a:br>
            <a:endParaRPr lang="en-US" dirty="0"/>
          </a:p>
        </p:txBody>
      </p:sp>
    </p:spTree>
    <p:extLst>
      <p:ext uri="{BB962C8B-B14F-4D97-AF65-F5344CB8AC3E}">
        <p14:creationId xmlns="" xmlns:p14="http://schemas.microsoft.com/office/powerpoint/2010/main" val="20406269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85800"/>
            <a:ext cx="8229600" cy="5973762"/>
          </a:xfrm>
        </p:spPr>
        <p:txBody>
          <a:bodyPr>
            <a:normAutofit fontScale="90000"/>
          </a:bodyPr>
          <a:lstStyle/>
          <a:p>
            <a:pPr algn="l"/>
            <a:r>
              <a:rPr lang="en-US" sz="2700" dirty="0"/>
              <a:t>I attribute my success story to my hard working spirit accompanied by my love for the profession. I have deep passion for my job and wouldn’t want my students to fail. I work with very minimum supervision but with maximum output as stated.</a:t>
            </a:r>
            <a:br>
              <a:rPr lang="en-US" sz="2700" dirty="0"/>
            </a:br>
            <a:r>
              <a:rPr lang="en-US" sz="2700" dirty="0"/>
              <a:t> </a:t>
            </a:r>
            <a:br>
              <a:rPr lang="en-US" sz="2700" dirty="0"/>
            </a:br>
            <a:r>
              <a:rPr lang="en-US" sz="2700" dirty="0"/>
              <a:t>In my 20 years of service I have held so many responsibilities which include Acting Head of Department, Coordinator for the Open School, School teacher bursar, and boarding master. </a:t>
            </a:r>
            <a:r>
              <a:rPr lang="en-US" sz="2700" dirty="0" smtClean="0"/>
              <a:t/>
            </a:r>
            <a:br>
              <a:rPr lang="en-US" sz="2700" dirty="0" smtClean="0"/>
            </a:br>
            <a:r>
              <a:rPr lang="en-US" sz="4900" dirty="0"/>
              <a:t/>
            </a:r>
            <a:br>
              <a:rPr lang="en-US" sz="4900" dirty="0"/>
            </a:br>
            <a:r>
              <a:rPr lang="en-US" sz="2700" dirty="0"/>
              <a:t>  As teacher bursar, I have proved to be honest and a man/woman of integrity by accounting for all the revenue collected. All my audited records are clean.</a:t>
            </a:r>
            <a:r>
              <a:rPr lang="en-US" dirty="0"/>
              <a:t/>
            </a:r>
            <a:br>
              <a:rPr lang="en-US" dirty="0"/>
            </a:br>
            <a:r>
              <a:rPr lang="en-US" dirty="0"/>
              <a:t/>
            </a:r>
            <a:br>
              <a:rPr lang="en-US" dirty="0"/>
            </a:br>
            <a:endParaRPr lang="en-US" dirty="0"/>
          </a:p>
        </p:txBody>
      </p:sp>
    </p:spTree>
    <p:extLst>
      <p:ext uri="{BB962C8B-B14F-4D97-AF65-F5344CB8AC3E}">
        <p14:creationId xmlns="" xmlns:p14="http://schemas.microsoft.com/office/powerpoint/2010/main" val="129290503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rmAutofit/>
          </a:bodyPr>
          <a:lstStyle/>
          <a:p>
            <a:pPr algn="l"/>
            <a:r>
              <a:rPr lang="en-US" sz="2400" dirty="0"/>
              <a:t>While I was in college I did courses which have direct bearing on my practice as a teacher. For example, I learnt child psychology and sociology of education. These courses assist me today to guide and counsel my learners well as the schools chairperson of Guidance and Counselling Committee.</a:t>
            </a:r>
            <a:br>
              <a:rPr lang="en-US" sz="2400" dirty="0"/>
            </a:br>
            <a:r>
              <a:rPr lang="en-US" sz="2400" dirty="0"/>
              <a:t> </a:t>
            </a:r>
            <a:br>
              <a:rPr lang="en-US" sz="2400" dirty="0"/>
            </a:br>
            <a:r>
              <a:rPr lang="en-US" sz="2400" dirty="0"/>
              <a:t>If successful in this interview, I hope my new position will accord me with opportunities to contribute even more to the attainment of quality education in Malawi.</a:t>
            </a:r>
            <a:r>
              <a:rPr lang="en-US" dirty="0"/>
              <a:t/>
            </a:r>
            <a:br>
              <a:rPr lang="en-US" dirty="0"/>
            </a:br>
            <a:r>
              <a:rPr lang="en-US" sz="2200" dirty="0" smtClean="0"/>
              <a:t/>
            </a:r>
            <a:br>
              <a:rPr lang="en-US" sz="2200" dirty="0" smtClean="0"/>
            </a:br>
            <a:r>
              <a:rPr lang="en-US" sz="3100" b="1" dirty="0"/>
              <a:t>ANOTHER COMMON GENERAL </a:t>
            </a:r>
            <a:r>
              <a:rPr lang="en-US" sz="3100" b="1" dirty="0" smtClean="0"/>
              <a:t>QUESTION</a:t>
            </a:r>
            <a:r>
              <a:rPr lang="en-US" sz="3600" b="1" dirty="0" smtClean="0"/>
              <a:t/>
            </a:r>
            <a:br>
              <a:rPr lang="en-US" sz="3600" b="1" dirty="0" smtClean="0"/>
            </a:br>
            <a:r>
              <a:rPr lang="en-US" sz="2700" dirty="0"/>
              <a:t/>
            </a:r>
            <a:br>
              <a:rPr lang="en-US" sz="2700" dirty="0"/>
            </a:br>
            <a:r>
              <a:rPr lang="en-US" sz="2700" dirty="0"/>
              <a:t>If picked for this post, can you state and explain five duties that you will be required to perform.</a:t>
            </a:r>
            <a:r>
              <a:rPr lang="en-US" sz="3600" dirty="0"/>
              <a:t/>
            </a:r>
            <a:br>
              <a:rPr lang="en-US" sz="3600" dirty="0"/>
            </a:br>
            <a:endParaRPr lang="en-US" sz="3600" dirty="0"/>
          </a:p>
        </p:txBody>
      </p:sp>
    </p:spTree>
    <p:extLst>
      <p:ext uri="{BB962C8B-B14F-4D97-AF65-F5344CB8AC3E}">
        <p14:creationId xmlns="" xmlns:p14="http://schemas.microsoft.com/office/powerpoint/2010/main" val="301267750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16562"/>
          </a:xfrm>
        </p:spPr>
        <p:txBody>
          <a:bodyPr>
            <a:normAutofit fontScale="90000"/>
          </a:bodyPr>
          <a:lstStyle/>
          <a:p>
            <a:pPr algn="l"/>
            <a:r>
              <a:rPr lang="en-US" b="1" dirty="0"/>
              <a:t> </a:t>
            </a:r>
            <a:r>
              <a:rPr lang="en-US" dirty="0"/>
              <a:t/>
            </a:r>
            <a:br>
              <a:rPr lang="en-US" dirty="0"/>
            </a:br>
            <a:r>
              <a:rPr lang="en-US" sz="3100" b="1" dirty="0"/>
              <a:t>THE MOST COMMON PRACTICAL </a:t>
            </a:r>
            <a:r>
              <a:rPr lang="en-US" sz="3100" b="1" dirty="0" smtClean="0"/>
              <a:t>QUESTIONS</a:t>
            </a:r>
            <a:br>
              <a:rPr lang="en-US" sz="3100" b="1" dirty="0" smtClean="0"/>
            </a:br>
            <a:r>
              <a:rPr lang="en-US" sz="3100" dirty="0"/>
              <a:t/>
            </a:r>
            <a:br>
              <a:rPr lang="en-US" sz="3100" dirty="0"/>
            </a:br>
            <a:r>
              <a:rPr lang="en-US" sz="3100" dirty="0"/>
              <a:t>A teacher is a planner. State four functions you will be expected to do in planning</a:t>
            </a:r>
            <a:r>
              <a:rPr lang="en-US" sz="3100" dirty="0" smtClean="0"/>
              <a:t>.</a:t>
            </a:r>
            <a:br>
              <a:rPr lang="en-US" sz="3100" dirty="0" smtClean="0"/>
            </a:br>
            <a:r>
              <a:rPr lang="en-US" sz="3100" dirty="0"/>
              <a:t/>
            </a:r>
            <a:br>
              <a:rPr lang="en-US" sz="3100" dirty="0"/>
            </a:br>
            <a:r>
              <a:rPr lang="en-US" sz="3100" dirty="0" smtClean="0"/>
              <a:t>	.	Prepare </a:t>
            </a:r>
            <a:r>
              <a:rPr lang="en-US" sz="3100" dirty="0"/>
              <a:t>schemes and records of work</a:t>
            </a:r>
            <a:br>
              <a:rPr lang="en-US" sz="3100" dirty="0"/>
            </a:br>
            <a:r>
              <a:rPr lang="en-US" sz="3100" dirty="0" smtClean="0"/>
              <a:t>	.	Prepare </a:t>
            </a:r>
            <a:r>
              <a:rPr lang="en-US" sz="3100" dirty="0"/>
              <a:t>lesson plans </a:t>
            </a:r>
            <a:br>
              <a:rPr lang="en-US" sz="3100" dirty="0"/>
            </a:br>
            <a:r>
              <a:rPr lang="en-US" sz="3100" dirty="0" smtClean="0"/>
              <a:t>	.	Prepare </a:t>
            </a:r>
            <a:r>
              <a:rPr lang="en-US" sz="3100" dirty="0"/>
              <a:t>teaching notes</a:t>
            </a:r>
            <a:br>
              <a:rPr lang="en-US" sz="3100" dirty="0"/>
            </a:br>
            <a:r>
              <a:rPr lang="en-US" sz="3100" dirty="0" smtClean="0"/>
              <a:t>	.	Identify </a:t>
            </a:r>
            <a:r>
              <a:rPr lang="en-US" sz="3100" dirty="0"/>
              <a:t>and prepare learning </a:t>
            </a:r>
            <a:r>
              <a:rPr lang="en-US" sz="3100" dirty="0" smtClean="0"/>
              <a:t>				materials</a:t>
            </a:r>
            <a:r>
              <a:rPr lang="en-US" dirty="0"/>
              <a:t/>
            </a:r>
            <a:br>
              <a:rPr lang="en-US" dirty="0"/>
            </a:br>
            <a:endParaRPr lang="en-US" dirty="0"/>
          </a:p>
        </p:txBody>
      </p:sp>
    </p:spTree>
    <p:extLst>
      <p:ext uri="{BB962C8B-B14F-4D97-AF65-F5344CB8AC3E}">
        <p14:creationId xmlns="" xmlns:p14="http://schemas.microsoft.com/office/powerpoint/2010/main" val="19103196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Autofit/>
          </a:bodyPr>
          <a:lstStyle/>
          <a:p>
            <a:pPr lvl="0" algn="l"/>
            <a:r>
              <a:rPr lang="en-US" sz="2800" b="1" dirty="0"/>
              <a:t>Explain at least FOUR factors that make schemes of work important in your teaching.</a:t>
            </a:r>
            <a:r>
              <a:rPr lang="en-US" sz="2800" dirty="0"/>
              <a:t/>
            </a:r>
            <a:br>
              <a:rPr lang="en-US" sz="2800" dirty="0"/>
            </a:br>
            <a:r>
              <a:rPr lang="en-US" sz="2800" dirty="0" smtClean="0"/>
              <a:t>(a)	Schemes  </a:t>
            </a:r>
            <a:r>
              <a:rPr lang="en-US" sz="2800" dirty="0"/>
              <a:t>enable the teacher to ensure that all </a:t>
            </a:r>
            <a:r>
              <a:rPr lang="en-US" sz="2800" dirty="0" smtClean="0"/>
              <a:t>	sections </a:t>
            </a:r>
            <a:r>
              <a:rPr lang="en-US" sz="2800" dirty="0"/>
              <a:t>of the syllabus are </a:t>
            </a:r>
            <a:r>
              <a:rPr lang="en-US" sz="2800" dirty="0" smtClean="0"/>
              <a:t>covered Schemes 	help </a:t>
            </a:r>
            <a:r>
              <a:rPr lang="en-US" sz="2800" dirty="0"/>
              <a:t>the teacher to divide/segment the lessons</a:t>
            </a:r>
            <a:br>
              <a:rPr lang="en-US" sz="2800" dirty="0"/>
            </a:br>
            <a:r>
              <a:rPr lang="en-US" sz="2800" dirty="0" smtClean="0"/>
              <a:t>(b)	They </a:t>
            </a:r>
            <a:r>
              <a:rPr lang="en-US" sz="2800" dirty="0"/>
              <a:t>aid in the preparation of lesson plans</a:t>
            </a:r>
            <a:br>
              <a:rPr lang="en-US" sz="2800" dirty="0"/>
            </a:br>
            <a:r>
              <a:rPr lang="en-US" sz="2800" dirty="0" smtClean="0"/>
              <a:t>(c)	They </a:t>
            </a:r>
            <a:r>
              <a:rPr lang="en-US" sz="2800" dirty="0"/>
              <a:t>provide smooth takeover when the officer </a:t>
            </a:r>
            <a:r>
              <a:rPr lang="en-US" sz="2800" dirty="0" smtClean="0"/>
              <a:t>	allocated </a:t>
            </a:r>
            <a:r>
              <a:rPr lang="en-US" sz="2800" dirty="0"/>
              <a:t>to teach the subject is absent or has </a:t>
            </a:r>
            <a:r>
              <a:rPr lang="en-US" sz="2800" dirty="0" smtClean="0"/>
              <a:t>	transferred</a:t>
            </a:r>
            <a:r>
              <a:rPr lang="en-US" sz="2800" dirty="0"/>
              <a:t>, for continuity</a:t>
            </a:r>
            <a:br>
              <a:rPr lang="en-US" sz="2800" dirty="0"/>
            </a:br>
            <a:r>
              <a:rPr lang="en-US" sz="2800" dirty="0" smtClean="0"/>
              <a:t>(d)	They </a:t>
            </a:r>
            <a:r>
              <a:rPr lang="en-US" sz="2800" dirty="0"/>
              <a:t>are a record monitored by Ministry officials </a:t>
            </a:r>
            <a:r>
              <a:rPr lang="en-US" sz="2800" dirty="0" smtClean="0"/>
              <a:t>	for </a:t>
            </a:r>
            <a:r>
              <a:rPr lang="en-US" sz="2800" dirty="0"/>
              <a:t>quality control</a:t>
            </a:r>
            <a:br>
              <a:rPr lang="en-US" sz="2800" dirty="0"/>
            </a:br>
            <a:endParaRPr lang="en-US" sz="2800" dirty="0"/>
          </a:p>
        </p:txBody>
      </p:sp>
    </p:spTree>
    <p:extLst>
      <p:ext uri="{BB962C8B-B14F-4D97-AF65-F5344CB8AC3E}">
        <p14:creationId xmlns="" xmlns:p14="http://schemas.microsoft.com/office/powerpoint/2010/main" val="67341487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516562"/>
          </a:xfrm>
        </p:spPr>
        <p:txBody>
          <a:bodyPr>
            <a:normAutofit fontScale="90000"/>
          </a:bodyPr>
          <a:lstStyle/>
          <a:p>
            <a:pPr algn="l"/>
            <a:r>
              <a:rPr lang="en-US" sz="3100" dirty="0"/>
              <a:t> </a:t>
            </a:r>
            <a:r>
              <a:rPr lang="en-US" sz="3100" b="1" dirty="0"/>
              <a:t/>
            </a:r>
            <a:br>
              <a:rPr lang="en-US" sz="3100" b="1" dirty="0"/>
            </a:br>
            <a:r>
              <a:rPr lang="en-US" sz="3100" b="1" dirty="0"/>
              <a:t>Explain how guidance and counselling is significant to learners in secondary schools</a:t>
            </a:r>
            <a:r>
              <a:rPr lang="en-US" sz="3100" b="1" dirty="0" smtClean="0"/>
              <a:t>.</a:t>
            </a:r>
            <a:br>
              <a:rPr lang="en-US" sz="3100" b="1" dirty="0" smtClean="0"/>
            </a:br>
            <a:r>
              <a:rPr lang="en-US" sz="3100" dirty="0"/>
              <a:t/>
            </a:r>
            <a:br>
              <a:rPr lang="en-US" sz="3100" dirty="0"/>
            </a:br>
            <a:r>
              <a:rPr lang="en-US" sz="3100" dirty="0" smtClean="0"/>
              <a:t>(a)	Guiding </a:t>
            </a:r>
            <a:r>
              <a:rPr lang="en-US" sz="3100" dirty="0"/>
              <a:t>on future career based on strong subject </a:t>
            </a:r>
            <a:r>
              <a:rPr lang="en-US" sz="3100" dirty="0" smtClean="0"/>
              <a:t>	choices</a:t>
            </a:r>
            <a:r>
              <a:rPr lang="en-US" sz="3100" dirty="0"/>
              <a:t/>
            </a:r>
            <a:br>
              <a:rPr lang="en-US" sz="3100" dirty="0"/>
            </a:br>
            <a:r>
              <a:rPr lang="en-US" sz="3100" dirty="0" smtClean="0"/>
              <a:t>(b)	Providing </a:t>
            </a:r>
            <a:r>
              <a:rPr lang="en-US" sz="3100" dirty="0"/>
              <a:t>emotional support to problems faced </a:t>
            </a:r>
            <a:r>
              <a:rPr lang="en-US" sz="3100" dirty="0" smtClean="0"/>
              <a:t>	by </a:t>
            </a:r>
            <a:r>
              <a:rPr lang="en-US" sz="3100" dirty="0"/>
              <a:t>the students</a:t>
            </a:r>
            <a:br>
              <a:rPr lang="en-US" sz="3100" dirty="0"/>
            </a:br>
            <a:r>
              <a:rPr lang="en-US" sz="3100" dirty="0" smtClean="0"/>
              <a:t>(c)	Supporting </a:t>
            </a:r>
            <a:r>
              <a:rPr lang="en-US" sz="3100" dirty="0"/>
              <a:t>learners with psycho-social problems </a:t>
            </a:r>
            <a:r>
              <a:rPr lang="en-US" sz="3100" dirty="0" smtClean="0"/>
              <a:t>	emanating </a:t>
            </a:r>
            <a:r>
              <a:rPr lang="en-US" sz="3100" dirty="0"/>
              <a:t>from the status of the family</a:t>
            </a:r>
            <a:br>
              <a:rPr lang="en-US" sz="3100" dirty="0"/>
            </a:br>
            <a:r>
              <a:rPr lang="en-US" sz="3100" dirty="0" smtClean="0"/>
              <a:t>(d)	Helping </a:t>
            </a:r>
            <a:r>
              <a:rPr lang="en-US" sz="3100" dirty="0"/>
              <a:t>learners achieve equal status in the </a:t>
            </a:r>
            <a:r>
              <a:rPr lang="en-US" sz="3100" dirty="0" smtClean="0"/>
              <a:t>	school</a:t>
            </a:r>
            <a:r>
              <a:rPr lang="en-US" sz="3100" dirty="0"/>
              <a:t/>
            </a:r>
            <a:br>
              <a:rPr lang="en-US" sz="3100" dirty="0"/>
            </a:br>
            <a:r>
              <a:rPr lang="en-US" sz="3100" dirty="0" smtClean="0"/>
              <a:t>(e)	Team </a:t>
            </a:r>
            <a:r>
              <a:rPr lang="en-US" sz="3100" dirty="0"/>
              <a:t>building</a:t>
            </a:r>
            <a:r>
              <a:rPr lang="en-US" dirty="0"/>
              <a:t/>
            </a:r>
            <a:br>
              <a:rPr lang="en-US" dirty="0"/>
            </a:br>
            <a:endParaRPr lang="en-US" dirty="0"/>
          </a:p>
        </p:txBody>
      </p:sp>
    </p:spTree>
    <p:extLst>
      <p:ext uri="{BB962C8B-B14F-4D97-AF65-F5344CB8AC3E}">
        <p14:creationId xmlns="" xmlns:p14="http://schemas.microsoft.com/office/powerpoint/2010/main" val="208541704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73762"/>
          </a:xfrm>
        </p:spPr>
        <p:txBody>
          <a:bodyPr>
            <a:normAutofit/>
          </a:bodyPr>
          <a:lstStyle/>
          <a:p>
            <a:pPr lvl="0" algn="l"/>
            <a:r>
              <a:rPr lang="en-US" sz="3200" b="1" dirty="0"/>
              <a:t>As a form teacher, what would be your responsibilities at least four of these</a:t>
            </a:r>
            <a:r>
              <a:rPr lang="en-US" sz="3200" b="1" dirty="0" smtClean="0"/>
              <a:t>.</a:t>
            </a:r>
            <a:r>
              <a:rPr lang="en-US" sz="3200" dirty="0" smtClean="0"/>
              <a:t/>
            </a:r>
            <a:br>
              <a:rPr lang="en-US" sz="3200" dirty="0" smtClean="0"/>
            </a:br>
            <a:r>
              <a:rPr lang="en-US" sz="3200" dirty="0"/>
              <a:t/>
            </a:r>
            <a:br>
              <a:rPr lang="en-US" sz="3200" dirty="0"/>
            </a:br>
            <a:r>
              <a:rPr lang="en-US" sz="3200" dirty="0" smtClean="0"/>
              <a:t>(a)	Monitoring </a:t>
            </a:r>
            <a:r>
              <a:rPr lang="en-US" sz="3200" dirty="0"/>
              <a:t>attendance</a:t>
            </a:r>
            <a:br>
              <a:rPr lang="en-US" sz="3200" dirty="0"/>
            </a:br>
            <a:r>
              <a:rPr lang="en-US" sz="3200" dirty="0" smtClean="0"/>
              <a:t>(b)	Compiling </a:t>
            </a:r>
            <a:r>
              <a:rPr lang="en-US" sz="3200" dirty="0"/>
              <a:t>class results</a:t>
            </a:r>
            <a:br>
              <a:rPr lang="en-US" sz="3200" dirty="0"/>
            </a:br>
            <a:r>
              <a:rPr lang="en-US" sz="3200" dirty="0" smtClean="0"/>
              <a:t>(c)	Attending </a:t>
            </a:r>
            <a:r>
              <a:rPr lang="en-US" sz="3200" dirty="0"/>
              <a:t>to the welfare of students</a:t>
            </a:r>
            <a:br>
              <a:rPr lang="en-US" sz="3200" dirty="0"/>
            </a:br>
            <a:r>
              <a:rPr lang="en-US" sz="3200" dirty="0" smtClean="0"/>
              <a:t>(d)	Overseeing </a:t>
            </a:r>
            <a:r>
              <a:rPr lang="en-US" sz="3200" dirty="0"/>
              <a:t>the cleanliness of the </a:t>
            </a:r>
            <a:r>
              <a:rPr lang="en-US" sz="3200" dirty="0" smtClean="0"/>
              <a:t>	classroom </a:t>
            </a:r>
            <a:r>
              <a:rPr lang="en-US" dirty="0"/>
              <a:t/>
            </a:r>
            <a:br>
              <a:rPr lang="en-US" dirty="0"/>
            </a:br>
            <a:endParaRPr lang="en-US" dirty="0"/>
          </a:p>
        </p:txBody>
      </p:sp>
    </p:spTree>
    <p:extLst>
      <p:ext uri="{BB962C8B-B14F-4D97-AF65-F5344CB8AC3E}">
        <p14:creationId xmlns="" xmlns:p14="http://schemas.microsoft.com/office/powerpoint/2010/main" val="147988391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02362"/>
          </a:xfrm>
        </p:spPr>
        <p:txBody>
          <a:bodyPr>
            <a:noAutofit/>
          </a:bodyPr>
          <a:lstStyle/>
          <a:p>
            <a:pPr lvl="0" algn="l"/>
            <a:r>
              <a:rPr lang="en-US" sz="2800" b="1" dirty="0"/>
              <a:t>How do you motivate your students to become active learners in your class?</a:t>
            </a:r>
            <a:r>
              <a:rPr lang="en-US" sz="2800" dirty="0"/>
              <a:t/>
            </a:r>
            <a:br>
              <a:rPr lang="en-US" sz="2800" dirty="0"/>
            </a:br>
            <a:r>
              <a:rPr lang="en-US" sz="2800" dirty="0" smtClean="0"/>
              <a:t/>
            </a:r>
            <a:br>
              <a:rPr lang="en-US" sz="2800" dirty="0" smtClean="0"/>
            </a:br>
            <a:r>
              <a:rPr lang="en-US" sz="2400" dirty="0" smtClean="0"/>
              <a:t>(a) First </a:t>
            </a:r>
            <a:r>
              <a:rPr lang="en-US" sz="2400" dirty="0"/>
              <a:t>impression: eloquence, </a:t>
            </a:r>
            <a:r>
              <a:rPr lang="en-US" sz="2400" dirty="0" err="1"/>
              <a:t>presentability</a:t>
            </a:r>
            <a:r>
              <a:rPr lang="en-US" sz="2400" dirty="0"/>
              <a:t>, </a:t>
            </a:r>
            <a:r>
              <a:rPr lang="en-US" sz="2400" dirty="0" err="1"/>
              <a:t>humour</a:t>
            </a:r>
            <a:r>
              <a:rPr lang="en-US" sz="2400" dirty="0"/>
              <a:t/>
            </a:r>
            <a:br>
              <a:rPr lang="en-US" sz="2400" dirty="0"/>
            </a:br>
            <a:r>
              <a:rPr lang="en-US" sz="2400" dirty="0" smtClean="0"/>
              <a:t>(b) Learner-</a:t>
            </a:r>
            <a:r>
              <a:rPr lang="en-US" sz="2400" dirty="0" err="1" smtClean="0"/>
              <a:t>centred</a:t>
            </a:r>
            <a:r>
              <a:rPr lang="en-US" sz="2400" dirty="0" smtClean="0"/>
              <a:t> </a:t>
            </a:r>
            <a:r>
              <a:rPr lang="en-US" sz="2400" dirty="0"/>
              <a:t>approach</a:t>
            </a:r>
            <a:br>
              <a:rPr lang="en-US" sz="2400" dirty="0"/>
            </a:br>
            <a:r>
              <a:rPr lang="en-US" sz="2400" dirty="0" smtClean="0"/>
              <a:t>(c) Interactive </a:t>
            </a:r>
            <a:r>
              <a:rPr lang="en-US" sz="2400" dirty="0"/>
              <a:t>learning</a:t>
            </a:r>
            <a:br>
              <a:rPr lang="en-US" sz="2400" dirty="0"/>
            </a:br>
            <a:r>
              <a:rPr lang="en-US" sz="2400" dirty="0" smtClean="0"/>
              <a:t>(d) Explaining </a:t>
            </a:r>
            <a:r>
              <a:rPr lang="en-US" sz="2400" dirty="0"/>
              <a:t>the materials in a friendly manner</a:t>
            </a:r>
            <a:br>
              <a:rPr lang="en-US" sz="2400" dirty="0"/>
            </a:br>
            <a:r>
              <a:rPr lang="en-US" sz="2400" dirty="0" smtClean="0"/>
              <a:t>(e) Honesty</a:t>
            </a:r>
            <a:r>
              <a:rPr lang="en-US" sz="2400" dirty="0"/>
              <a:t/>
            </a:r>
            <a:br>
              <a:rPr lang="en-US" sz="2400" dirty="0"/>
            </a:br>
            <a:r>
              <a:rPr lang="en-US" sz="2400" dirty="0" smtClean="0"/>
              <a:t>(f) Lively </a:t>
            </a:r>
            <a:r>
              <a:rPr lang="en-US" sz="2400" dirty="0"/>
              <a:t>lessons, games, </a:t>
            </a:r>
            <a:r>
              <a:rPr lang="en-US" sz="2400" dirty="0" err="1"/>
              <a:t>humour</a:t>
            </a:r>
            <a:r>
              <a:rPr lang="en-US" sz="2400" dirty="0"/>
              <a:t> and fun</a:t>
            </a:r>
            <a:br>
              <a:rPr lang="en-US" sz="2400" dirty="0"/>
            </a:br>
            <a:r>
              <a:rPr lang="en-US" sz="2400" dirty="0" smtClean="0"/>
              <a:t>(g) Providing </a:t>
            </a:r>
            <a:r>
              <a:rPr lang="en-US" sz="2400" dirty="0"/>
              <a:t>rewards, positive reinforcement</a:t>
            </a:r>
            <a:br>
              <a:rPr lang="en-US" sz="2400" dirty="0"/>
            </a:br>
            <a:r>
              <a:rPr lang="en-US" sz="2400" dirty="0" smtClean="0"/>
              <a:t>(h) Use </a:t>
            </a:r>
            <a:r>
              <a:rPr lang="en-US" sz="2400" dirty="0"/>
              <a:t>of technology</a:t>
            </a:r>
            <a:br>
              <a:rPr lang="en-US" sz="2400" dirty="0"/>
            </a:br>
            <a:r>
              <a:rPr lang="en-US" sz="2400" dirty="0" smtClean="0"/>
              <a:t>(</a:t>
            </a:r>
            <a:r>
              <a:rPr lang="en-US" sz="2400" dirty="0" err="1" smtClean="0"/>
              <a:t>i</a:t>
            </a:r>
            <a:r>
              <a:rPr lang="en-US" sz="2400" dirty="0" smtClean="0"/>
              <a:t>) Effective </a:t>
            </a:r>
            <a:r>
              <a:rPr lang="en-US" sz="2400" dirty="0"/>
              <a:t>use of teaching and learning materials</a:t>
            </a:r>
            <a:br>
              <a:rPr lang="en-US" sz="2400" dirty="0"/>
            </a:br>
            <a:r>
              <a:rPr lang="en-US" sz="2400" dirty="0" smtClean="0"/>
              <a:t>(j) Timely </a:t>
            </a:r>
            <a:r>
              <a:rPr lang="en-US" sz="2400" dirty="0"/>
              <a:t>feedback after giving them a task</a:t>
            </a:r>
            <a:br>
              <a:rPr lang="en-US" sz="2400" dirty="0"/>
            </a:br>
            <a:r>
              <a:rPr lang="en-US" sz="2400" dirty="0" smtClean="0"/>
              <a:t>(k)Trendy </a:t>
            </a:r>
            <a:r>
              <a:rPr lang="en-US" sz="2400" dirty="0"/>
              <a:t>and well-versed with the current </a:t>
            </a:r>
            <a:r>
              <a:rPr lang="en-US" sz="2400" dirty="0" smtClean="0"/>
              <a:t>		developments </a:t>
            </a:r>
            <a:r>
              <a:rPr lang="en-US" sz="2400" dirty="0"/>
              <a:t>in education</a:t>
            </a:r>
            <a:r>
              <a:rPr lang="en-US" sz="2800" dirty="0"/>
              <a:t/>
            </a:r>
            <a:br>
              <a:rPr lang="en-US" sz="2800" dirty="0"/>
            </a:br>
            <a:endParaRPr lang="en-US" sz="2800" dirty="0"/>
          </a:p>
        </p:txBody>
      </p:sp>
    </p:spTree>
    <p:extLst>
      <p:ext uri="{BB962C8B-B14F-4D97-AF65-F5344CB8AC3E}">
        <p14:creationId xmlns="" xmlns:p14="http://schemas.microsoft.com/office/powerpoint/2010/main" val="249250926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02362"/>
          </a:xfrm>
        </p:spPr>
        <p:txBody>
          <a:bodyPr>
            <a:noAutofit/>
          </a:bodyPr>
          <a:lstStyle/>
          <a:p>
            <a:pPr lvl="0" algn="l"/>
            <a:r>
              <a:rPr lang="en-US" sz="2800" b="1" dirty="0"/>
              <a:t>State four elements you would look for when supervising a teacher. </a:t>
            </a:r>
            <a:r>
              <a:rPr lang="en-US" sz="2800" b="1" dirty="0" smtClean="0"/>
              <a:t/>
            </a:r>
            <a:br>
              <a:rPr lang="en-US" sz="2800" b="1" dirty="0" smtClean="0"/>
            </a:br>
            <a:r>
              <a:rPr lang="en-US" sz="2800" dirty="0"/>
              <a:t/>
            </a:r>
            <a:br>
              <a:rPr lang="en-US" sz="2800" dirty="0"/>
            </a:br>
            <a:r>
              <a:rPr lang="en-US" sz="2800" dirty="0" smtClean="0"/>
              <a:t>(a) 	Preparation</a:t>
            </a:r>
            <a:r>
              <a:rPr lang="en-US" sz="2800" dirty="0"/>
              <a:t>: availability of schemes, lesson plan </a:t>
            </a:r>
            <a:r>
              <a:rPr lang="en-US" sz="2800" dirty="0" smtClean="0"/>
              <a:t>	and </a:t>
            </a:r>
            <a:r>
              <a:rPr lang="en-US" sz="2800" dirty="0"/>
              <a:t>teaching and learning aids</a:t>
            </a:r>
            <a:br>
              <a:rPr lang="en-US" sz="2800" dirty="0"/>
            </a:br>
            <a:r>
              <a:rPr lang="en-US" sz="2800" dirty="0" smtClean="0"/>
              <a:t>(b)	</a:t>
            </a:r>
            <a:r>
              <a:rPr lang="en-US" sz="2800" dirty="0" err="1" smtClean="0"/>
              <a:t>Presentability</a:t>
            </a:r>
            <a:r>
              <a:rPr lang="en-US" sz="2800" dirty="0"/>
              <a:t/>
            </a:r>
            <a:br>
              <a:rPr lang="en-US" sz="2800" dirty="0"/>
            </a:br>
            <a:r>
              <a:rPr lang="en-US" sz="2800" dirty="0" smtClean="0"/>
              <a:t>(c)	Knowledge </a:t>
            </a:r>
            <a:r>
              <a:rPr lang="en-US" sz="2800" dirty="0"/>
              <a:t>of the subject matter</a:t>
            </a:r>
            <a:br>
              <a:rPr lang="en-US" sz="2800" dirty="0"/>
            </a:br>
            <a:r>
              <a:rPr lang="en-US" sz="2800" dirty="0" smtClean="0"/>
              <a:t>(d)	Effectiveness</a:t>
            </a:r>
            <a:r>
              <a:rPr lang="en-US" sz="2800" dirty="0"/>
              <a:t/>
            </a:r>
            <a:br>
              <a:rPr lang="en-US" sz="2800" dirty="0"/>
            </a:br>
            <a:r>
              <a:rPr lang="en-US" sz="2800" dirty="0" smtClean="0"/>
              <a:t>(e)	Proper </a:t>
            </a:r>
            <a:r>
              <a:rPr lang="en-US" sz="2800" dirty="0"/>
              <a:t>use of teaching and learning materials</a:t>
            </a:r>
            <a:br>
              <a:rPr lang="en-US" sz="2800" dirty="0"/>
            </a:br>
            <a:r>
              <a:rPr lang="en-US" sz="2800" dirty="0" smtClean="0"/>
              <a:t>(f)	Correct </a:t>
            </a:r>
            <a:r>
              <a:rPr lang="en-US" sz="2800" dirty="0"/>
              <a:t>pacing during lesson presentation</a:t>
            </a:r>
            <a:br>
              <a:rPr lang="en-US" sz="2800" dirty="0"/>
            </a:br>
            <a:r>
              <a:rPr lang="en-US" sz="2800" dirty="0" smtClean="0"/>
              <a:t>(g)	Spreading </a:t>
            </a:r>
            <a:r>
              <a:rPr lang="en-US" sz="2800" dirty="0"/>
              <a:t>of questions</a:t>
            </a:r>
            <a:br>
              <a:rPr lang="en-US" sz="2800" dirty="0"/>
            </a:br>
            <a:endParaRPr lang="en-US" sz="2800" dirty="0"/>
          </a:p>
        </p:txBody>
      </p:sp>
    </p:spTree>
    <p:extLst>
      <p:ext uri="{BB962C8B-B14F-4D97-AF65-F5344CB8AC3E}">
        <p14:creationId xmlns="" xmlns:p14="http://schemas.microsoft.com/office/powerpoint/2010/main" val="356376804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02362"/>
          </a:xfrm>
        </p:spPr>
        <p:txBody>
          <a:bodyPr>
            <a:normAutofit fontScale="90000"/>
          </a:bodyPr>
          <a:lstStyle/>
          <a:p>
            <a:pPr lvl="0" algn="l"/>
            <a:r>
              <a:rPr lang="en-US" sz="3600" b="1" dirty="0"/>
              <a:t>Why is a mark-book is important</a:t>
            </a:r>
            <a:r>
              <a:rPr lang="en-US" sz="3600" b="1" dirty="0" smtClean="0"/>
              <a:t>?</a:t>
            </a:r>
            <a:br>
              <a:rPr lang="en-US" sz="3600" b="1" dirty="0" smtClean="0"/>
            </a:br>
            <a:r>
              <a:rPr lang="en-US" sz="3600" dirty="0"/>
              <a:t/>
            </a:r>
            <a:br>
              <a:rPr lang="en-US" sz="3600" dirty="0"/>
            </a:br>
            <a:r>
              <a:rPr lang="en-US" sz="3600" dirty="0" smtClean="0"/>
              <a:t>(a) 	It </a:t>
            </a:r>
            <a:r>
              <a:rPr lang="en-US" sz="3600" dirty="0"/>
              <a:t>is a record that guides the teacher to </a:t>
            </a:r>
            <a:r>
              <a:rPr lang="en-US" sz="3600" dirty="0" smtClean="0"/>
              <a:t>	check </a:t>
            </a:r>
            <a:r>
              <a:rPr lang="en-US" sz="3600" dirty="0"/>
              <a:t>the progress of each particular </a:t>
            </a:r>
            <a:r>
              <a:rPr lang="en-US" sz="3600" dirty="0" smtClean="0"/>
              <a:t>	learner</a:t>
            </a:r>
            <a:r>
              <a:rPr lang="en-US" sz="3600" dirty="0"/>
              <a:t/>
            </a:r>
            <a:br>
              <a:rPr lang="en-US" sz="3600" dirty="0"/>
            </a:br>
            <a:r>
              <a:rPr lang="en-US" sz="3600" dirty="0" smtClean="0"/>
              <a:t>(b)	It </a:t>
            </a:r>
            <a:r>
              <a:rPr lang="en-US" sz="3600" dirty="0"/>
              <a:t>provides feed back to the school, </a:t>
            </a:r>
            <a:r>
              <a:rPr lang="en-US" sz="3600" dirty="0" smtClean="0"/>
              <a:t>	authorities </a:t>
            </a:r>
            <a:r>
              <a:rPr lang="en-US" sz="3600" dirty="0"/>
              <a:t>and parents on the </a:t>
            </a:r>
            <a:r>
              <a:rPr lang="en-US" sz="3600" dirty="0" smtClean="0"/>
              <a:t>	performance </a:t>
            </a:r>
            <a:r>
              <a:rPr lang="en-US" sz="3600" dirty="0"/>
              <a:t>of the students</a:t>
            </a:r>
            <a:br>
              <a:rPr lang="en-US" sz="3600" dirty="0"/>
            </a:br>
            <a:r>
              <a:rPr lang="en-US" sz="3600" dirty="0" smtClean="0"/>
              <a:t>(c)	It </a:t>
            </a:r>
            <a:r>
              <a:rPr lang="en-US" sz="3600" dirty="0"/>
              <a:t>facilitates promotion of successful </a:t>
            </a:r>
            <a:r>
              <a:rPr lang="en-US" sz="3600" dirty="0" smtClean="0"/>
              <a:t>	students </a:t>
            </a:r>
            <a:r>
              <a:rPr lang="en-US" sz="3600" dirty="0"/>
              <a:t>to the next class</a:t>
            </a:r>
            <a:br>
              <a:rPr lang="en-US" sz="3600" dirty="0"/>
            </a:br>
            <a:r>
              <a:rPr lang="en-US" sz="3600" dirty="0" smtClean="0"/>
              <a:t>(d)	It </a:t>
            </a:r>
            <a:r>
              <a:rPr lang="en-US" sz="3600" dirty="0"/>
              <a:t>enables the teacher to select students </a:t>
            </a:r>
            <a:r>
              <a:rPr lang="en-US" sz="3600" dirty="0" smtClean="0"/>
              <a:t>	who </a:t>
            </a:r>
            <a:r>
              <a:rPr lang="en-US" sz="3600" dirty="0"/>
              <a:t>may need remedial lessons.</a:t>
            </a:r>
            <a:r>
              <a:rPr lang="en-US" dirty="0"/>
              <a:t/>
            </a:r>
            <a:br>
              <a:rPr lang="en-US" dirty="0"/>
            </a:br>
            <a:endParaRPr lang="en-US" dirty="0"/>
          </a:p>
        </p:txBody>
      </p:sp>
    </p:spTree>
    <p:extLst>
      <p:ext uri="{BB962C8B-B14F-4D97-AF65-F5344CB8AC3E}">
        <p14:creationId xmlns="" xmlns:p14="http://schemas.microsoft.com/office/powerpoint/2010/main" val="178122935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5257800"/>
          </a:xfrm>
        </p:spPr>
        <p:txBody>
          <a:bodyPr>
            <a:normAutofit fontScale="90000"/>
          </a:bodyPr>
          <a:lstStyle/>
          <a:p>
            <a:pPr lvl="0" algn="l"/>
            <a:r>
              <a:rPr lang="en-US" sz="3600" b="1" dirty="0"/>
              <a:t>How would you improve the quality of teaching and learning at the institution?</a:t>
            </a:r>
            <a:br>
              <a:rPr lang="en-US" sz="3600" b="1" dirty="0"/>
            </a:br>
            <a:r>
              <a:rPr lang="en-US" sz="3600" dirty="0" smtClean="0"/>
              <a:t>(a</a:t>
            </a:r>
            <a:r>
              <a:rPr lang="en-US" sz="3100" dirty="0" smtClean="0"/>
              <a:t>) 	</a:t>
            </a:r>
            <a:r>
              <a:rPr lang="en-US" sz="2700" dirty="0" smtClean="0"/>
              <a:t>TALULAR</a:t>
            </a:r>
            <a:r>
              <a:rPr lang="en-US" sz="2700" dirty="0"/>
              <a:t/>
            </a:r>
            <a:br>
              <a:rPr lang="en-US" sz="2700" dirty="0"/>
            </a:br>
            <a:r>
              <a:rPr lang="en-US" sz="2700" dirty="0" smtClean="0"/>
              <a:t>(b)	Following </a:t>
            </a:r>
            <a:r>
              <a:rPr lang="en-US" sz="2700" dirty="0"/>
              <a:t>a recommended curriculum</a:t>
            </a:r>
            <a:br>
              <a:rPr lang="en-US" sz="2700" dirty="0"/>
            </a:br>
            <a:r>
              <a:rPr lang="en-US" sz="2700" dirty="0" smtClean="0"/>
              <a:t>(c)	Teaching </a:t>
            </a:r>
            <a:r>
              <a:rPr lang="en-US" sz="2700" dirty="0"/>
              <a:t>every allocated period</a:t>
            </a:r>
            <a:br>
              <a:rPr lang="en-US" sz="2700" dirty="0"/>
            </a:br>
            <a:r>
              <a:rPr lang="en-US" sz="2700" dirty="0" smtClean="0"/>
              <a:t>(d)	Punctuality</a:t>
            </a:r>
            <a:r>
              <a:rPr lang="en-US" sz="2700" dirty="0"/>
              <a:t/>
            </a:r>
            <a:br>
              <a:rPr lang="en-US" sz="2700" dirty="0"/>
            </a:br>
            <a:r>
              <a:rPr lang="en-US" sz="2700" dirty="0" smtClean="0"/>
              <a:t>(e)	Planning </a:t>
            </a:r>
            <a:r>
              <a:rPr lang="en-US" sz="2700" dirty="0"/>
              <a:t>my work well: writing schemes and </a:t>
            </a:r>
            <a:r>
              <a:rPr lang="en-US" sz="2700" dirty="0" smtClean="0"/>
              <a:t>	records </a:t>
            </a:r>
            <a:r>
              <a:rPr lang="en-US" sz="2700" dirty="0"/>
              <a:t>of work; lesson plans</a:t>
            </a:r>
            <a:br>
              <a:rPr lang="en-US" sz="2700" dirty="0"/>
            </a:br>
            <a:r>
              <a:rPr lang="en-US" sz="2700" dirty="0" smtClean="0"/>
              <a:t>(f)	Giving </a:t>
            </a:r>
            <a:r>
              <a:rPr lang="en-US" sz="2700" dirty="0"/>
              <a:t>students tasks to perform: assignments</a:t>
            </a:r>
            <a:br>
              <a:rPr lang="en-US" sz="2700" dirty="0"/>
            </a:br>
            <a:r>
              <a:rPr lang="en-US" sz="2700" dirty="0" smtClean="0"/>
              <a:t>	Assessment</a:t>
            </a:r>
            <a:r>
              <a:rPr lang="en-US" sz="2700" dirty="0"/>
              <a:t/>
            </a:r>
            <a:br>
              <a:rPr lang="en-US" sz="2700" dirty="0"/>
            </a:br>
            <a:r>
              <a:rPr lang="en-US" sz="2700" dirty="0" smtClean="0"/>
              <a:t>(g)	Feedback</a:t>
            </a:r>
            <a:r>
              <a:rPr lang="en-US" sz="2700" dirty="0"/>
              <a:t/>
            </a:r>
            <a:br>
              <a:rPr lang="en-US" sz="2700" dirty="0"/>
            </a:br>
            <a:r>
              <a:rPr lang="en-US" sz="2700" dirty="0" smtClean="0"/>
              <a:t>(h)	Team </a:t>
            </a:r>
            <a:r>
              <a:rPr lang="en-US" sz="2700" dirty="0"/>
              <a:t>teaching/planning/marking</a:t>
            </a:r>
            <a:r>
              <a:rPr lang="en-US" sz="4000" dirty="0"/>
              <a:t/>
            </a:r>
            <a:br>
              <a:rPr lang="en-US" sz="4000" dirty="0"/>
            </a:br>
            <a:r>
              <a:rPr lang="en-US" sz="4000" dirty="0"/>
              <a:t> </a:t>
            </a:r>
            <a:r>
              <a:rPr lang="en-US" dirty="0"/>
              <a:t/>
            </a:r>
            <a:br>
              <a:rPr lang="en-US" dirty="0"/>
            </a:br>
            <a:endParaRPr lang="en-US" dirty="0"/>
          </a:p>
        </p:txBody>
      </p:sp>
    </p:spTree>
    <p:extLst>
      <p:ext uri="{BB962C8B-B14F-4D97-AF65-F5344CB8AC3E}">
        <p14:creationId xmlns="" xmlns:p14="http://schemas.microsoft.com/office/powerpoint/2010/main" val="345977498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rmAutofit/>
          </a:bodyPr>
          <a:lstStyle/>
          <a:p>
            <a:pPr algn="l"/>
            <a:r>
              <a:rPr lang="en-US" sz="3200" b="1" dirty="0"/>
              <a:t>THE MOST COMMON GENERAL QUESTIONS</a:t>
            </a:r>
            <a:r>
              <a:rPr lang="en-US" sz="3200" dirty="0"/>
              <a:t/>
            </a:r>
            <a:br>
              <a:rPr lang="en-US" sz="3200" dirty="0"/>
            </a:br>
            <a:r>
              <a:rPr lang="en-US" sz="3200" dirty="0" smtClean="0"/>
              <a:t/>
            </a:r>
            <a:br>
              <a:rPr lang="en-US" sz="3200" dirty="0" smtClean="0"/>
            </a:br>
            <a:r>
              <a:rPr lang="en-US" sz="3200" b="1" dirty="0" smtClean="0"/>
              <a:t>Why </a:t>
            </a:r>
            <a:r>
              <a:rPr lang="en-US" sz="3200" b="1" dirty="0"/>
              <a:t>should a teacher uphold good conduct in the school?</a:t>
            </a:r>
            <a:r>
              <a:rPr lang="en-US" sz="3200" dirty="0"/>
              <a:t/>
            </a:r>
            <a:br>
              <a:rPr lang="en-US" sz="3200" dirty="0"/>
            </a:br>
            <a:r>
              <a:rPr lang="en-US" sz="3200" dirty="0" smtClean="0"/>
              <a:t/>
            </a:r>
            <a:br>
              <a:rPr lang="en-US" sz="3200" dirty="0" smtClean="0"/>
            </a:br>
            <a:r>
              <a:rPr lang="en-US" sz="3200" dirty="0" smtClean="0"/>
              <a:t>(a)	Uphold </a:t>
            </a:r>
            <a:r>
              <a:rPr lang="en-US" sz="3200" dirty="0"/>
              <a:t>professionalism</a:t>
            </a:r>
            <a:br>
              <a:rPr lang="en-US" sz="3200" dirty="0"/>
            </a:br>
            <a:r>
              <a:rPr lang="en-US" sz="3200" dirty="0" smtClean="0"/>
              <a:t>(b)	</a:t>
            </a:r>
            <a:r>
              <a:rPr lang="en-US" sz="3200" dirty="0" err="1" smtClean="0"/>
              <a:t>Instil</a:t>
            </a:r>
            <a:r>
              <a:rPr lang="en-US" sz="3200" dirty="0" smtClean="0"/>
              <a:t> </a:t>
            </a:r>
            <a:r>
              <a:rPr lang="en-US" sz="3200" dirty="0"/>
              <a:t>morale, morality and give sense of </a:t>
            </a:r>
            <a:r>
              <a:rPr lang="en-US" sz="3200" dirty="0" smtClean="0"/>
              <a:t>	direction</a:t>
            </a:r>
            <a:r>
              <a:rPr lang="en-US" sz="3200" dirty="0"/>
              <a:t/>
            </a:r>
            <a:br>
              <a:rPr lang="en-US" sz="3200" dirty="0"/>
            </a:br>
            <a:r>
              <a:rPr lang="en-US" sz="3200" dirty="0" smtClean="0"/>
              <a:t>(c) 	Achievement </a:t>
            </a:r>
            <a:r>
              <a:rPr lang="en-US" sz="3200" dirty="0"/>
              <a:t>of better results</a:t>
            </a:r>
            <a:r>
              <a:rPr lang="en-US" dirty="0"/>
              <a:t/>
            </a:r>
            <a:br>
              <a:rPr lang="en-US" dirty="0"/>
            </a:br>
            <a:r>
              <a:rPr lang="en-US" dirty="0"/>
              <a:t> </a:t>
            </a:r>
            <a:br>
              <a:rPr lang="en-US" dirty="0"/>
            </a:br>
            <a:endParaRPr lang="en-US" dirty="0"/>
          </a:p>
        </p:txBody>
      </p:sp>
    </p:spTree>
    <p:extLst>
      <p:ext uri="{BB962C8B-B14F-4D97-AF65-F5344CB8AC3E}">
        <p14:creationId xmlns="" xmlns:p14="http://schemas.microsoft.com/office/powerpoint/2010/main" val="349692406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73762"/>
          </a:xfrm>
        </p:spPr>
        <p:txBody>
          <a:bodyPr>
            <a:normAutofit fontScale="90000"/>
          </a:bodyPr>
          <a:lstStyle/>
          <a:p>
            <a:pPr lvl="0" algn="l"/>
            <a:r>
              <a:rPr lang="en-US" sz="3600" b="1" dirty="0"/>
              <a:t>Explain what is meant by social distance between learner and teacher. Why is it important?</a:t>
            </a:r>
            <a:r>
              <a:rPr lang="en-US" sz="3600" dirty="0"/>
              <a:t/>
            </a:r>
            <a:br>
              <a:rPr lang="en-US" sz="3600" dirty="0"/>
            </a:br>
            <a:r>
              <a:rPr lang="en-US" sz="3600" dirty="0" smtClean="0"/>
              <a:t/>
            </a:r>
            <a:br>
              <a:rPr lang="en-US" sz="3600" dirty="0" smtClean="0"/>
            </a:br>
            <a:r>
              <a:rPr lang="en-US" sz="3600" dirty="0" smtClean="0"/>
              <a:t>(a) 	</a:t>
            </a:r>
            <a:r>
              <a:rPr lang="en-US" sz="3100" dirty="0" smtClean="0"/>
              <a:t>It </a:t>
            </a:r>
            <a:r>
              <a:rPr lang="en-US" sz="3100" dirty="0"/>
              <a:t>is a formal respectful relationship </a:t>
            </a:r>
            <a:r>
              <a:rPr lang="en-US" sz="3100" dirty="0" smtClean="0"/>
              <a:t>between </a:t>
            </a:r>
            <a:r>
              <a:rPr lang="en-US" sz="3100" dirty="0"/>
              <a:t>a </a:t>
            </a:r>
            <a:r>
              <a:rPr lang="en-US" sz="3100" dirty="0" smtClean="0"/>
              <a:t>	teacher </a:t>
            </a:r>
            <a:r>
              <a:rPr lang="en-US" sz="3100" dirty="0"/>
              <a:t>and a learner/ </a:t>
            </a:r>
            <a:r>
              <a:rPr lang="en-US" sz="3100" dirty="0" smtClean="0"/>
              <a:t>maintenance </a:t>
            </a:r>
            <a:r>
              <a:rPr lang="en-US" sz="3100" dirty="0"/>
              <a:t>of a clear </a:t>
            </a:r>
            <a:r>
              <a:rPr lang="en-US" sz="3100" dirty="0" smtClean="0"/>
              <a:t>	boundary </a:t>
            </a:r>
            <a:r>
              <a:rPr lang="en-US" sz="3100" dirty="0"/>
              <a:t>between </a:t>
            </a:r>
            <a:r>
              <a:rPr lang="en-US" sz="3100" dirty="0" smtClean="0"/>
              <a:t>a </a:t>
            </a:r>
            <a:r>
              <a:rPr lang="en-US" sz="3100" dirty="0"/>
              <a:t>teacher and a learner.</a:t>
            </a:r>
            <a:br>
              <a:rPr lang="en-US" sz="3100" dirty="0"/>
            </a:br>
            <a:r>
              <a:rPr lang="en-US" sz="3100" dirty="0" smtClean="0"/>
              <a:t>(b)	There </a:t>
            </a:r>
            <a:r>
              <a:rPr lang="en-US" sz="3100" dirty="0"/>
              <a:t>is no equal status between a teacher </a:t>
            </a:r>
            <a:r>
              <a:rPr lang="en-US" sz="3100" dirty="0" smtClean="0"/>
              <a:t>	and 	a </a:t>
            </a:r>
            <a:r>
              <a:rPr lang="en-US" sz="3100" dirty="0"/>
              <a:t>learner</a:t>
            </a:r>
            <a:br>
              <a:rPr lang="en-US" sz="3100" dirty="0"/>
            </a:br>
            <a:r>
              <a:rPr lang="en-US" sz="3100" dirty="0" smtClean="0"/>
              <a:t>(c)	Avoidance </a:t>
            </a:r>
            <a:r>
              <a:rPr lang="en-US" sz="3100" dirty="0"/>
              <a:t>of emotional relationship that </a:t>
            </a:r>
            <a:r>
              <a:rPr lang="en-US" sz="3100" dirty="0" smtClean="0"/>
              <a:t>will 	culminate </a:t>
            </a:r>
            <a:r>
              <a:rPr lang="en-US" sz="3100" dirty="0"/>
              <a:t>into </a:t>
            </a:r>
            <a:r>
              <a:rPr lang="en-US" sz="3100" dirty="0" err="1"/>
              <a:t>misbehaviour</a:t>
            </a:r>
            <a:r>
              <a:rPr lang="en-US" dirty="0"/>
              <a:t/>
            </a:r>
            <a:br>
              <a:rPr lang="en-US" dirty="0"/>
            </a:br>
            <a:endParaRPr lang="en-US" dirty="0"/>
          </a:p>
        </p:txBody>
      </p:sp>
    </p:spTree>
    <p:extLst>
      <p:ext uri="{BB962C8B-B14F-4D97-AF65-F5344CB8AC3E}">
        <p14:creationId xmlns="" xmlns:p14="http://schemas.microsoft.com/office/powerpoint/2010/main" val="395356891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202362"/>
          </a:xfrm>
        </p:spPr>
        <p:txBody>
          <a:bodyPr/>
          <a:lstStyle/>
          <a:p>
            <a:pPr lvl="0" algn="l"/>
            <a:r>
              <a:rPr lang="en-US" dirty="0"/>
              <a:t> </a:t>
            </a:r>
            <a:br>
              <a:rPr lang="en-US" dirty="0"/>
            </a:br>
            <a:r>
              <a:rPr lang="en-US" dirty="0" smtClean="0"/>
              <a:t>-	</a:t>
            </a:r>
            <a:r>
              <a:rPr lang="en-US" sz="3600" dirty="0" smtClean="0"/>
              <a:t>teacher-learner </a:t>
            </a:r>
            <a:r>
              <a:rPr lang="en-US" sz="3600" dirty="0"/>
              <a:t>relationship to be </a:t>
            </a:r>
            <a:r>
              <a:rPr lang="en-US" sz="3600" dirty="0" smtClean="0"/>
              <a:t>	strong </a:t>
            </a:r>
            <a:r>
              <a:rPr lang="en-US" sz="3600" dirty="0"/>
              <a:t>facilitation/impartation of </a:t>
            </a:r>
            <a:r>
              <a:rPr lang="en-US" sz="3600" dirty="0" smtClean="0"/>
              <a:t>	knowledge </a:t>
            </a:r>
            <a:r>
              <a:rPr lang="en-US" sz="3600" dirty="0"/>
              <a:t>to the </a:t>
            </a:r>
            <a:r>
              <a:rPr lang="en-US" sz="3600" dirty="0" smtClean="0"/>
              <a:t>learner</a:t>
            </a:r>
            <a:br>
              <a:rPr lang="en-US" sz="3600" dirty="0" smtClean="0"/>
            </a:br>
            <a:r>
              <a:rPr lang="en-US" sz="3600" dirty="0"/>
              <a:t/>
            </a:r>
            <a:br>
              <a:rPr lang="en-US" sz="3600" dirty="0"/>
            </a:br>
            <a:r>
              <a:rPr lang="en-US" sz="3600" dirty="0" smtClean="0"/>
              <a:t>-	the </a:t>
            </a:r>
            <a:r>
              <a:rPr lang="en-US" sz="3600" dirty="0"/>
              <a:t>importance is teacher integrity</a:t>
            </a:r>
            <a:br>
              <a:rPr lang="en-US" sz="3600" dirty="0"/>
            </a:br>
            <a:r>
              <a:rPr lang="en-US" sz="3600" dirty="0" smtClean="0"/>
              <a:t>	it </a:t>
            </a:r>
            <a:r>
              <a:rPr lang="en-US" sz="3600" dirty="0"/>
              <a:t>may erode self-respect and dent </a:t>
            </a:r>
            <a:r>
              <a:rPr lang="en-US" sz="3600" dirty="0" smtClean="0"/>
              <a:t>	reputation </a:t>
            </a:r>
            <a:r>
              <a:rPr lang="en-US" sz="3600" dirty="0"/>
              <a:t>of the teacher and the </a:t>
            </a:r>
            <a:r>
              <a:rPr lang="en-US" sz="3600" dirty="0" smtClean="0"/>
              <a:t>	establishment</a:t>
            </a:r>
            <a:r>
              <a:rPr lang="en-US" dirty="0"/>
              <a:t/>
            </a:r>
            <a:br>
              <a:rPr lang="en-US" dirty="0"/>
            </a:br>
            <a:endParaRPr lang="en-US" dirty="0"/>
          </a:p>
        </p:txBody>
      </p:sp>
    </p:spTree>
    <p:extLst>
      <p:ext uri="{BB962C8B-B14F-4D97-AF65-F5344CB8AC3E}">
        <p14:creationId xmlns="" xmlns:p14="http://schemas.microsoft.com/office/powerpoint/2010/main" val="188889512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normAutofit fontScale="90000"/>
          </a:bodyPr>
          <a:lstStyle/>
          <a:p>
            <a:pPr lvl="0" algn="l"/>
            <a:r>
              <a:rPr lang="en-US" sz="4000" b="1" dirty="0" smtClean="0"/>
              <a:t>How </a:t>
            </a:r>
            <a:r>
              <a:rPr lang="en-US" sz="4000" b="1" dirty="0"/>
              <a:t>does research contribute to </a:t>
            </a:r>
            <a:r>
              <a:rPr lang="en-US" sz="4000" b="1" dirty="0" smtClean="0"/>
              <a:t>	effective </a:t>
            </a:r>
            <a:r>
              <a:rPr lang="en-US" sz="4000" b="1" dirty="0"/>
              <a:t>teaching and learning?</a:t>
            </a:r>
            <a:r>
              <a:rPr lang="en-US" sz="4000" dirty="0"/>
              <a:t/>
            </a:r>
            <a:br>
              <a:rPr lang="en-US" sz="4000" dirty="0"/>
            </a:br>
            <a:r>
              <a:rPr lang="en-US" sz="4000" dirty="0" smtClean="0"/>
              <a:t>-</a:t>
            </a:r>
            <a:r>
              <a:rPr lang="en-US" sz="3600" dirty="0" smtClean="0"/>
              <a:t>	It </a:t>
            </a:r>
            <a:r>
              <a:rPr lang="en-US" sz="3600" dirty="0"/>
              <a:t>improves innovation and </a:t>
            </a:r>
            <a:r>
              <a:rPr lang="en-US" sz="3600" dirty="0" smtClean="0"/>
              <a:t>	creativity</a:t>
            </a:r>
            <a:br>
              <a:rPr lang="en-US" sz="3600" dirty="0" smtClean="0"/>
            </a:br>
            <a:r>
              <a:rPr lang="en-US" sz="3600" dirty="0"/>
              <a:t/>
            </a:r>
            <a:br>
              <a:rPr lang="en-US" sz="3600" dirty="0"/>
            </a:br>
            <a:r>
              <a:rPr lang="en-US" sz="3600" dirty="0" smtClean="0"/>
              <a:t>-	Abreast </a:t>
            </a:r>
            <a:r>
              <a:rPr lang="en-US" sz="3600" dirty="0"/>
              <a:t>with current </a:t>
            </a:r>
            <a:r>
              <a:rPr lang="en-US" sz="3600" dirty="0" smtClean="0"/>
              <a:t>	developments</a:t>
            </a:r>
            <a:br>
              <a:rPr lang="en-US" sz="3600" dirty="0" smtClean="0"/>
            </a:br>
            <a:r>
              <a:rPr lang="en-US" sz="3600" dirty="0"/>
              <a:t/>
            </a:r>
            <a:br>
              <a:rPr lang="en-US" sz="3600" dirty="0"/>
            </a:br>
            <a:r>
              <a:rPr lang="en-US" sz="3600" dirty="0" smtClean="0"/>
              <a:t>-	Provides </a:t>
            </a:r>
            <a:r>
              <a:rPr lang="en-US" sz="3600" dirty="0"/>
              <a:t>new and better </a:t>
            </a:r>
            <a:r>
              <a:rPr lang="en-US" sz="3600" dirty="0" smtClean="0"/>
              <a:t>direction</a:t>
            </a:r>
            <a:br>
              <a:rPr lang="en-US" sz="3600" dirty="0" smtClean="0"/>
            </a:br>
            <a:r>
              <a:rPr lang="en-US" sz="3600" dirty="0"/>
              <a:t/>
            </a:r>
            <a:br>
              <a:rPr lang="en-US" sz="3600" dirty="0"/>
            </a:br>
            <a:r>
              <a:rPr lang="en-US" sz="3600" dirty="0" smtClean="0"/>
              <a:t>-	Unveiling </a:t>
            </a:r>
            <a:r>
              <a:rPr lang="en-US" sz="3600" dirty="0"/>
              <a:t>problems in the </a:t>
            </a:r>
            <a:r>
              <a:rPr lang="en-US" sz="3600" dirty="0" smtClean="0"/>
              <a:t>teaching and 	finding </a:t>
            </a:r>
            <a:r>
              <a:rPr lang="en-US" sz="3600" dirty="0"/>
              <a:t>solutions to </a:t>
            </a:r>
            <a:r>
              <a:rPr lang="en-US" sz="3600" dirty="0" smtClean="0"/>
              <a:t>those problems</a:t>
            </a:r>
            <a:r>
              <a:rPr lang="en-US" dirty="0"/>
              <a:t/>
            </a:r>
            <a:br>
              <a:rPr lang="en-US" dirty="0"/>
            </a:br>
            <a:r>
              <a:rPr lang="en-US" dirty="0"/>
              <a:t> </a:t>
            </a:r>
          </a:p>
        </p:txBody>
      </p:sp>
    </p:spTree>
    <p:extLst>
      <p:ext uri="{BB962C8B-B14F-4D97-AF65-F5344CB8AC3E}">
        <p14:creationId xmlns="" xmlns:p14="http://schemas.microsoft.com/office/powerpoint/2010/main" val="409959444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97562"/>
          </a:xfrm>
        </p:spPr>
        <p:txBody>
          <a:bodyPr>
            <a:normAutofit fontScale="90000"/>
          </a:bodyPr>
          <a:lstStyle/>
          <a:p>
            <a:pPr lvl="0" algn="l"/>
            <a:r>
              <a:rPr lang="en-US" sz="3100" dirty="0"/>
              <a:t/>
            </a:r>
            <a:br>
              <a:rPr lang="en-US" sz="3100" dirty="0"/>
            </a:br>
            <a:r>
              <a:rPr lang="en-US" sz="2800" dirty="0" smtClean="0"/>
              <a:t> </a:t>
            </a:r>
            <a:br>
              <a:rPr lang="en-US" sz="2800" dirty="0" smtClean="0"/>
            </a:br>
            <a:r>
              <a:rPr lang="en-US" sz="3200" b="1" dirty="0" smtClean="0"/>
              <a:t>What does the word delegation mean and why is it important in schools?</a:t>
            </a:r>
            <a:br>
              <a:rPr lang="en-US" sz="3200" b="1" dirty="0" smtClean="0"/>
            </a:br>
            <a:r>
              <a:rPr lang="en-US" sz="2800" dirty="0" smtClean="0"/>
              <a:t/>
            </a:r>
            <a:br>
              <a:rPr lang="en-US" sz="2800" dirty="0" smtClean="0"/>
            </a:br>
            <a:r>
              <a:rPr lang="en-US" sz="3100" b="1" dirty="0" smtClean="0"/>
              <a:t> </a:t>
            </a:r>
            <a:r>
              <a:rPr lang="en-US" sz="3100" dirty="0" smtClean="0"/>
              <a:t>-	Delegation </a:t>
            </a:r>
            <a:r>
              <a:rPr lang="en-US" sz="3100" dirty="0"/>
              <a:t>means assigning someone or a </a:t>
            </a:r>
            <a:r>
              <a:rPr lang="en-US" sz="3100" dirty="0" smtClean="0"/>
              <a:t>	group </a:t>
            </a:r>
            <a:r>
              <a:rPr lang="en-US" sz="3100" dirty="0"/>
              <a:t>of people to carry out specific given </a:t>
            </a:r>
            <a:r>
              <a:rPr lang="en-US" sz="3100" dirty="0" smtClean="0"/>
              <a:t>tasks 	on </a:t>
            </a:r>
            <a:r>
              <a:rPr lang="en-US" sz="3100" dirty="0"/>
              <a:t>behalf of the one in </a:t>
            </a:r>
            <a:r>
              <a:rPr lang="en-US" sz="3100" dirty="0" smtClean="0"/>
              <a:t>authority</a:t>
            </a:r>
            <a:br>
              <a:rPr lang="en-US" sz="3100" dirty="0" smtClean="0"/>
            </a:br>
            <a:r>
              <a:rPr lang="en-US" sz="3100" dirty="0"/>
              <a:t/>
            </a:r>
            <a:br>
              <a:rPr lang="en-US" sz="3100" dirty="0"/>
            </a:br>
            <a:r>
              <a:rPr lang="en-US" sz="3100" dirty="0" smtClean="0"/>
              <a:t>	(a) To </a:t>
            </a:r>
            <a:r>
              <a:rPr lang="en-US" sz="3100" dirty="0"/>
              <a:t>give oneself time to perform other </a:t>
            </a:r>
            <a:r>
              <a:rPr lang="en-US" sz="3100" dirty="0" smtClean="0"/>
              <a:t>	important </a:t>
            </a:r>
            <a:r>
              <a:rPr lang="en-US" sz="3100" dirty="0"/>
              <a:t>duties, e.g. supervision</a:t>
            </a:r>
            <a:br>
              <a:rPr lang="en-US" sz="3100" dirty="0"/>
            </a:br>
            <a:endParaRPr lang="en-US" dirty="0"/>
          </a:p>
        </p:txBody>
      </p:sp>
    </p:spTree>
    <p:extLst>
      <p:ext uri="{BB962C8B-B14F-4D97-AF65-F5344CB8AC3E}">
        <p14:creationId xmlns="" xmlns:p14="http://schemas.microsoft.com/office/powerpoint/2010/main" val="22763243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143000"/>
            <a:ext cx="8229600" cy="4678362"/>
          </a:xfrm>
        </p:spPr>
        <p:txBody>
          <a:bodyPr>
            <a:noAutofit/>
          </a:bodyPr>
          <a:lstStyle/>
          <a:p>
            <a:pPr algn="l"/>
            <a:r>
              <a:rPr lang="en-US" sz="3200" dirty="0" smtClean="0"/>
              <a:t>(b) 	To provide an opportunity for the 	subordinates to be trained on decision 	making as they carry out assigned tasks</a:t>
            </a:r>
            <a:br>
              <a:rPr lang="en-US" sz="3200" dirty="0" smtClean="0"/>
            </a:br>
            <a:r>
              <a:rPr lang="en-US" sz="3200" dirty="0" smtClean="0"/>
              <a:t>(c) 	To create a growing sense of responsibility</a:t>
            </a:r>
            <a:br>
              <a:rPr lang="en-US" sz="3200" dirty="0" smtClean="0"/>
            </a:br>
            <a:r>
              <a:rPr lang="en-US" sz="3200" dirty="0" smtClean="0"/>
              <a:t>(d) 	To increase teachers’ sense of belonging</a:t>
            </a:r>
            <a:br>
              <a:rPr lang="en-US" sz="3200" dirty="0" smtClean="0"/>
            </a:br>
            <a:r>
              <a:rPr lang="en-US" sz="3200" dirty="0" smtClean="0"/>
              <a:t>(e) 	To motivate staff members</a:t>
            </a:r>
            <a:br>
              <a:rPr lang="en-US" sz="3200" dirty="0" smtClean="0"/>
            </a:br>
            <a:r>
              <a:rPr lang="en-US" sz="3200" dirty="0" smtClean="0"/>
              <a:t>(f) 	To reduce indispensability</a:t>
            </a:r>
            <a:br>
              <a:rPr lang="en-US" sz="3200" dirty="0" smtClean="0"/>
            </a:br>
            <a:endParaRPr lang="en-US" sz="3200" dirty="0"/>
          </a:p>
        </p:txBody>
      </p:sp>
    </p:spTree>
    <p:extLst>
      <p:ext uri="{BB962C8B-B14F-4D97-AF65-F5344CB8AC3E}">
        <p14:creationId xmlns="" xmlns:p14="http://schemas.microsoft.com/office/powerpoint/2010/main" val="282209576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229600" cy="6126162"/>
          </a:xfrm>
        </p:spPr>
        <p:txBody>
          <a:bodyPr>
            <a:normAutofit fontScale="90000"/>
          </a:bodyPr>
          <a:lstStyle/>
          <a:p>
            <a:pPr lvl="0" algn="l"/>
            <a:r>
              <a:rPr lang="en-US" sz="3200" b="1" dirty="0" smtClean="0"/>
              <a:t>What factors do you consider when delegating </a:t>
            </a:r>
            <a:r>
              <a:rPr lang="en-US" sz="3100" b="1" dirty="0" smtClean="0"/>
              <a:t>responsibilities to staff?</a:t>
            </a:r>
            <a:r>
              <a:rPr lang="en-US" sz="3100" dirty="0" smtClean="0"/>
              <a:t/>
            </a:r>
            <a:br>
              <a:rPr lang="en-US" sz="3100" dirty="0" smtClean="0"/>
            </a:br>
            <a:r>
              <a:rPr lang="en-US" sz="3100" dirty="0" smtClean="0"/>
              <a:t>(a)	The nature of task requiring delegation</a:t>
            </a:r>
            <a:br>
              <a:rPr lang="en-US" sz="3100" dirty="0" smtClean="0"/>
            </a:br>
            <a:r>
              <a:rPr lang="en-US" sz="3100" dirty="0" smtClean="0"/>
              <a:t>(b)	The capacity of the officer to be delegated</a:t>
            </a:r>
            <a:br>
              <a:rPr lang="en-US" sz="3100" dirty="0" smtClean="0"/>
            </a:br>
            <a:r>
              <a:rPr lang="en-US" sz="3100" dirty="0" smtClean="0"/>
              <a:t>(c)	Responsibility/ trustworthiness/ integrity</a:t>
            </a:r>
            <a:br>
              <a:rPr lang="en-US" sz="3100" dirty="0" smtClean="0"/>
            </a:br>
            <a:r>
              <a:rPr lang="en-US" sz="3100" dirty="0" smtClean="0"/>
              <a:t/>
            </a:r>
            <a:br>
              <a:rPr lang="en-US" sz="3100" dirty="0" smtClean="0"/>
            </a:br>
            <a:r>
              <a:rPr lang="en-US" sz="3100" b="1" dirty="0" smtClean="0"/>
              <a:t>Why have an Internal Procurement Committee (IPC) in the school?</a:t>
            </a:r>
            <a:r>
              <a:rPr lang="en-US" sz="2700" dirty="0" smtClean="0"/>
              <a:t/>
            </a:r>
            <a:br>
              <a:rPr lang="en-US" sz="2700" dirty="0" smtClean="0"/>
            </a:br>
            <a:r>
              <a:rPr lang="en-US" sz="2700" dirty="0" smtClean="0"/>
              <a:t> </a:t>
            </a:r>
            <a:br>
              <a:rPr lang="en-US" sz="2700" dirty="0" smtClean="0"/>
            </a:br>
            <a:r>
              <a:rPr lang="en-US" sz="2700" dirty="0" smtClean="0"/>
              <a:t>(a)	For value for money</a:t>
            </a:r>
            <a:br>
              <a:rPr lang="en-US" sz="2700" dirty="0" smtClean="0"/>
            </a:br>
            <a:r>
              <a:rPr lang="en-US" sz="2700" dirty="0" smtClean="0"/>
              <a:t>(b)	For transparency and accountability</a:t>
            </a:r>
            <a:br>
              <a:rPr lang="en-US" sz="2700" dirty="0" smtClean="0"/>
            </a:br>
            <a:r>
              <a:rPr lang="en-US" sz="2700" dirty="0" smtClean="0"/>
              <a:t>(c) 	Conflicts of interest are identified and managed</a:t>
            </a:r>
            <a:br>
              <a:rPr lang="en-US" sz="2700" dirty="0" smtClean="0"/>
            </a:br>
            <a:r>
              <a:rPr lang="en-US" sz="2700" dirty="0" smtClean="0"/>
              <a:t>(d)	To check on fraud and corruption</a:t>
            </a:r>
            <a:br>
              <a:rPr lang="en-US" sz="2700" dirty="0" smtClean="0"/>
            </a:br>
            <a:r>
              <a:rPr lang="en-US" sz="2700" dirty="0" smtClean="0"/>
              <a:t>(e)	For fair treatment of suppliers</a:t>
            </a:r>
            <a:br>
              <a:rPr lang="en-US" sz="2700" dirty="0" smtClean="0"/>
            </a:br>
            <a:r>
              <a:rPr lang="en-US" sz="2700" dirty="0" smtClean="0"/>
              <a:t>(f)	To promote unity within the school</a:t>
            </a:r>
            <a:r>
              <a:rPr lang="en-US" sz="3100" dirty="0" smtClean="0"/>
              <a:t/>
            </a:r>
            <a:br>
              <a:rPr lang="en-US" sz="3100" dirty="0" smtClean="0"/>
            </a:br>
            <a:r>
              <a:rPr lang="en-US" sz="3100" dirty="0" smtClean="0"/>
              <a:t> </a:t>
            </a:r>
            <a:r>
              <a:rPr lang="en-US" dirty="0" smtClean="0"/>
              <a:t/>
            </a:r>
            <a:br>
              <a:rPr lang="en-US" dirty="0" smtClean="0"/>
            </a:br>
            <a:r>
              <a:rPr lang="en-US" dirty="0"/>
              <a:t/>
            </a:r>
            <a:br>
              <a:rPr lang="en-US" dirty="0"/>
            </a:br>
            <a:r>
              <a:rPr lang="en-US" b="1" i="1" dirty="0"/>
              <a:t>  </a:t>
            </a:r>
            <a:endParaRPr lang="en-US" dirty="0"/>
          </a:p>
        </p:txBody>
      </p:sp>
    </p:spTree>
    <p:extLst>
      <p:ext uri="{BB962C8B-B14F-4D97-AF65-F5344CB8AC3E}">
        <p14:creationId xmlns="" xmlns:p14="http://schemas.microsoft.com/office/powerpoint/2010/main" val="368669527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97562"/>
          </a:xfrm>
        </p:spPr>
        <p:txBody>
          <a:bodyPr>
            <a:normAutofit/>
          </a:bodyPr>
          <a:lstStyle/>
          <a:p>
            <a:pPr lvl="0" algn="l"/>
            <a:r>
              <a:rPr lang="en-US" sz="3600" b="1" dirty="0"/>
              <a:t>How do you motivate a teacher?</a:t>
            </a:r>
            <a:r>
              <a:rPr lang="en-US" sz="3100" dirty="0"/>
              <a:t/>
            </a:r>
            <a:br>
              <a:rPr lang="en-US" sz="3100" dirty="0"/>
            </a:br>
            <a:r>
              <a:rPr lang="en-US" sz="3100" dirty="0" smtClean="0"/>
              <a:t>(a)	Recognition</a:t>
            </a:r>
            <a:r>
              <a:rPr lang="en-US" sz="3100" dirty="0"/>
              <a:t/>
            </a:r>
            <a:br>
              <a:rPr lang="en-US" sz="3100" dirty="0"/>
            </a:br>
            <a:r>
              <a:rPr lang="en-US" sz="3100" dirty="0" smtClean="0"/>
              <a:t>(b)	Delegation</a:t>
            </a:r>
            <a:r>
              <a:rPr lang="en-US" sz="3100" dirty="0"/>
              <a:t/>
            </a:r>
            <a:br>
              <a:rPr lang="en-US" sz="3100" dirty="0"/>
            </a:br>
            <a:r>
              <a:rPr lang="en-US" sz="3100" dirty="0" smtClean="0"/>
              <a:t>(c)	Participation</a:t>
            </a:r>
            <a:r>
              <a:rPr lang="en-US" sz="3100" dirty="0"/>
              <a:t/>
            </a:r>
            <a:br>
              <a:rPr lang="en-US" sz="3100" dirty="0"/>
            </a:br>
            <a:r>
              <a:rPr lang="en-US" sz="3100" dirty="0" smtClean="0"/>
              <a:t>(d)	Communication</a:t>
            </a:r>
            <a:r>
              <a:rPr lang="en-US" sz="3100" dirty="0"/>
              <a:t/>
            </a:r>
            <a:br>
              <a:rPr lang="en-US" sz="3100" dirty="0"/>
            </a:br>
            <a:r>
              <a:rPr lang="en-US" sz="3100" dirty="0" smtClean="0"/>
              <a:t>(e)	Staff development</a:t>
            </a:r>
            <a:r>
              <a:rPr lang="en-US" dirty="0" smtClean="0"/>
              <a:t/>
            </a:r>
            <a:br>
              <a:rPr lang="en-US" dirty="0" smtClean="0"/>
            </a:br>
            <a:r>
              <a:rPr lang="en-US" dirty="0"/>
              <a:t/>
            </a:r>
            <a:br>
              <a:rPr lang="en-US" dirty="0"/>
            </a:br>
            <a:r>
              <a:rPr lang="en-US" sz="3200" b="1" dirty="0"/>
              <a:t>How can you improve gender equality at the institution?</a:t>
            </a:r>
            <a:r>
              <a:rPr lang="en-US" sz="3100" dirty="0"/>
              <a:t/>
            </a:r>
            <a:br>
              <a:rPr lang="en-US" sz="3100" dirty="0"/>
            </a:br>
            <a:r>
              <a:rPr lang="en-US" sz="3100" dirty="0" smtClean="0"/>
              <a:t>(a)	Class </a:t>
            </a:r>
            <a:r>
              <a:rPr lang="en-US" sz="3100" dirty="0"/>
              <a:t>participation</a:t>
            </a:r>
            <a:br>
              <a:rPr lang="en-US" sz="3100" dirty="0"/>
            </a:br>
            <a:r>
              <a:rPr lang="en-US" sz="3100" dirty="0" smtClean="0"/>
              <a:t>(b)	Group </a:t>
            </a:r>
            <a:r>
              <a:rPr lang="en-US" sz="3100" dirty="0"/>
              <a:t>work with mixed sexes</a:t>
            </a:r>
            <a:endParaRPr lang="en-US" dirty="0"/>
          </a:p>
        </p:txBody>
      </p:sp>
    </p:spTree>
    <p:extLst>
      <p:ext uri="{BB962C8B-B14F-4D97-AF65-F5344CB8AC3E}">
        <p14:creationId xmlns="" xmlns:p14="http://schemas.microsoft.com/office/powerpoint/2010/main" val="144167429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049962"/>
          </a:xfrm>
        </p:spPr>
        <p:txBody>
          <a:bodyPr/>
          <a:lstStyle/>
          <a:p>
            <a:r>
              <a:rPr lang="en-US" dirty="0" smtClean="0"/>
              <a:t>THE END</a:t>
            </a:r>
            <a:br>
              <a:rPr lang="en-US" dirty="0" smtClean="0"/>
            </a:br>
            <a:r>
              <a:rPr lang="en-US" dirty="0" smtClean="0"/>
              <a:t>“</a:t>
            </a:r>
            <a:r>
              <a:rPr lang="en-US" dirty="0" err="1" smtClean="0"/>
              <a:t>Ndagha</a:t>
            </a:r>
            <a:r>
              <a:rPr lang="en-US" dirty="0" smtClean="0"/>
              <a:t> </a:t>
            </a:r>
            <a:r>
              <a:rPr lang="en-US" dirty="0" err="1" smtClean="0"/>
              <a:t>fiyo</a:t>
            </a:r>
            <a:r>
              <a:rPr lang="en-US" smtClean="0"/>
              <a:t>”</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TotalTime>
  <Words>372</Words>
  <Application>Microsoft Office PowerPoint</Application>
  <PresentationFormat>On-screen Show (4:3)</PresentationFormat>
  <Paragraphs>53</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AN APPROACH TO INTERVIEWS FOR PROMOTION  By Vincent Mbazi Mudolo (M.Ed; B.Ed; Dip.Ed)</vt:lpstr>
      <vt:lpstr>An Overview 1. Background 2. Response to the advertisement of a vacant post 3. Preparations for the Interviews 4.The Interview Day 5. The Interview Assessment Criteria 6. Response to Interview Questions  - Suitability for the post  - Practical Questions  - General Questions</vt:lpstr>
      <vt:lpstr>BACKGROUND  An interview is a conversation where questions are asked and answers are given in a one-on-one conversation with one person acting in the role of the interviewer and the other in the role of the interviewee.   A teacher is interviewed when he is being hired to become a teacher or for promotion as part of career advancement.</vt:lpstr>
      <vt:lpstr>RESPONSE TO THE ADVERTISEMENT FOR THE VACANCY  Vacancy Post  : Secondary School Teacher (Grade TI) Salary  : Within Grade I salary Segment Location :  Various Education Divisions Qualifications :  Applicants should be holders of any one of the following: Bachelor of Education, Bachelor of Science (Education), Bachelor of Arts (Theology/Divinity or Humanities) and should be serving teachers in Grades TL, TK and TJ  </vt:lpstr>
      <vt:lpstr>Duties and Responsibilities (a)  Teaching subjects in their area of specialization  (b)  Attending meetings as well as general assemblies  (c)  Preparing lesson plans  (d)  Preparing and maintaining schemes and records of work  (e) Designing, preparing and developing teaching and     learning materials for their subjects  (f)  Assessing students and compiling test results  (g) Assessing students and compiling test results    </vt:lpstr>
      <vt:lpstr>(h) Maintaining records e.g. progress reports,  attendance  registers and scholastic information  (i) Participating in continuous professional  development programmes (CPDs)  (j) Maintaining students’ discipline  (k) Identifying students’ needs  (l) Providing counselling and guidance to learners  (m) Performing any other duties assigned by the  headteacher from time to time</vt:lpstr>
      <vt:lpstr>Method of Application  Applications stating age, full details of educational /professional qualifications and subject of specialization should be submitted through the Education Division Manager to:  The Secretary,  The Teaching Service Commission,  Private Bag 235,  Lilongwe. </vt:lpstr>
      <vt:lpstr>Responses to details in the advertisement for the vacant post - Apply only when you meet all the   requirements of the vacant post. Otherwise  you  will not be interviewed  even if you are  shortlisted for the  interview.  - Write your application letter through the  Headteacher of your school and the  Education  Division Manager, and make sure it is signed  and stamped by the responsible officers. </vt:lpstr>
      <vt:lpstr>- Ensure that copies of your application letters which have been   duly signed by both the HT and the EDM are properly filed.   -Keep your copy and carry it with you to the  interview board in situations where you applied  but have not been invited for the interview.  - Although it is the responsibility of the officers through whom you write the letter to forward the application letter to the Teaching Service Commission, it is advisable that you, the applicant, should take that responsibility to do so.  Meet the set deadline. </vt:lpstr>
      <vt:lpstr>Preparations for the advertised vacant post  -  Read and understand the requirements of the   vacant post.  - Organize your original certificates, promotion  letters, curriculum vitae, testimonials and such very  official documents as PSR 19, confirmation letters of your  appointment and any other relevant documents.   - Carry these to the interview board.  - Make sure the documents bear your official  names. For  example, you must not be Vincent Mbazi Mudolo in one  certificate, and Vincent Yikwaka Mudolo in another. </vt:lpstr>
      <vt:lpstr>- In case your original certificates are lost, acquire a  police  report.  - Understand the job description  - Research on each job description  - Formulate probable interview questions and  responses  - Rehearse the interview questions and responses with  your peers  </vt:lpstr>
      <vt:lpstr> - Prepare the type of dress you will wear on  the  interview  day. Choose subdued  colours like  black, grey, blues and  browns.  - Before the interview day go to bed early so  that  you look rested and healthy on the big day. Do  not take alcoholic drinks or drugs that will have a  hangover effect on the Interview day.</vt:lpstr>
      <vt:lpstr> On the interview day,   - You may exercise on this interview day to  annihilate  stress and increase blood flow before taking your  bath.  - Have a healthy breakfast high in antioxidants, fatty  acids, and foods high in Vitamin E such as  nuts and  seeds. These will improve your brain function and  leave you feeling more alert and invigorated.   - Show up in the best possible shape; carry all the  relevant documents with you; be punctual  - Complete the registration form with accuracy, paying  particular attention to every detail.  </vt:lpstr>
      <vt:lpstr>The Interview Room  - Knock before you enter the interview room. The board  secretary may do this for you. - Enter the room with confidence  - Do not take your seat before you have been told to do so.  When the board secretary introduces the interview panel  to you, you will be greeted by the panel. Be sensitive to  address them properly i.e. as sir or madam. Do not  respond “good morning sir” when a lady on the panel   greets you. - Pay attention as the secretary reads the details on the  registration form and make the necessary corrections  there and then. - Show courtesy to everyone during the interview. You  never know who has input in the hiring process, and you  can only make a first impression once.  </vt:lpstr>
      <vt:lpstr>- Most interview boards have The Chairperson, a  Ministry Representative and an Independent  Member.   - Usually the Chairperson asks the first question on your   suitability for the post you applied for and the duties you  will be required to perform if successful  - The Ministry Representative asks practical  questions  related to your duties;  - While the Independent Member may ask  situational  questions e.g. case studies; policy issues and  procedures related to the post applied for. </vt:lpstr>
      <vt:lpstr> INTERVIEW ASSESSMENT CRITERIA  Each board member has two record sheets:  (a)  The candidate detail sheet, which also contains the  information on your registration form, is used for  recording every response that you provide almost  verbatim.     (b)  The interview assessment sheet for every candidate  </vt:lpstr>
      <vt:lpstr>Slide 17</vt:lpstr>
      <vt:lpstr>The Actual Interview  While interview questions are some of the most common, they are also some of the toughest.  Even though they’re asked in most interviews, these questions often throw most people off for whatever reason because they don’t know exactly how to approach the answers. </vt:lpstr>
      <vt:lpstr>AS THE ACTUAL INTERVIEW STARTS  Look everyone in the eye and smile. Looking people in the eye telegraphs alertness, and smiling will signal friendliness.   Do not rush into answering the question before you understand what it entails. Politely request the interviewer to repeat the question if you did not get it right.    For general questions that have not stipulated the number of points you must give, say as much as you can. For the specific questions, give at least all the points that are required, and actually number them either as i….; 2…..; 3……; 4……. Or firstly, secondly, thirdly, fourthly, so on and so forth    </vt:lpstr>
      <vt:lpstr>   If you can only manage to provide few answers required at that particular time, request the chairperson if he/she could accord you another opportunity to respond to the question again at the opportune time within the interview time.  Do not be too fast in answering the questions because what you say is documented almost verbatim by each member of the interview board. Say “thank you” at the end of each response to signal that you are done with that particular question.  If the chairperson requests you to ask to any question at the end of the interview, and you have nothing to ask, thank the Commission for having shortlisted you to be interviewed and the interview board for taking their time to interview you.   Make sure all your documents have been collected as you leave the interview venue.</vt:lpstr>
      <vt:lpstr> </vt:lpstr>
      <vt:lpstr>What the interviewer is looking for  What the candidate is worth: - qualifications, experiences, special attributes (team building, integrity, honesty)  Vision  Achievements: success stories of efficiency/accomplishments   Passion for the profession: commitment to make students succeed  Work ethics and values  Extra-curricular activities</vt:lpstr>
      <vt:lpstr>Common wrong responses  I am the most suitable candidate because you invited me to feel the vacant post.   You already know that a degree holder is at grade TI and I don’t know why you invited me for this interview when I already qualify.  The Teaching Service Commission would be unfair to leave me out because I have stayed at the same grade for many years and I want to be promoted  Promotion is a motivation. It would make me earn a little more and work harder </vt:lpstr>
      <vt:lpstr>Common average responses  (a)   I am the most suitable candidate for the post  because I qualify and have taught for many years;   (b) I have experience to do the job.   (c) I do everything that the head teacher delegates  to me   (d) I work with minimum supervision but maximum  output  (e) I am a man of integrity, full of honesty and hardworking </vt:lpstr>
      <vt:lpstr>Acceptable responses  In your advertisement for the post, you wanted a holder of any of the following degrees: Bachelor of Education, Bachelor of Science (Education) and Bachelor of Arts. I have a Bachelor of Education degree which I obtained at Chancellor College in 2008 with majors in English and Theology. I also have a Diploma in Education and a teaching certificate.   The advert also asked for someone who is a serving teacher at TL, TK, and TJ grade. I have served for 8 years at TJ grade. </vt:lpstr>
      <vt:lpstr>I have wide experience as a teacher. I have taught my subjects of specialization, that is, English and Bible Knowledge in both the Junior and Senior sections for 20 years.   I have been very successful in these subjects. For example, in the 2014 MSCE examinations, I produced 35 distinctions in English, and only two failed. In 2015, I repeated my success story and everybody passed. I had 40 distinctions in the subject. You can verify this information with my school authorities. </vt:lpstr>
      <vt:lpstr>I attribute my success story to my hard working spirit accompanied by my love for the profession. I have deep passion for my job and wouldn’t want my students to fail. I work with very minimum supervision but with maximum output as stated.   In my 20 years of service I have held so many responsibilities which include Acting Head of Department, Coordinator for the Open School, School teacher bursar, and boarding master.     As teacher bursar, I have proved to be honest and a man/woman of integrity by accounting for all the revenue collected. All my audited records are clean.  </vt:lpstr>
      <vt:lpstr>While I was in college I did courses which have direct bearing on my practice as a teacher. For example, I learnt child psychology and sociology of education. These courses assist me today to guide and counsel my learners well as the schools chairperson of Guidance and Counselling Committee.   If successful in this interview, I hope my new position will accord me with opportunities to contribute even more to the attainment of quality education in Malawi.  ANOTHER COMMON GENERAL QUESTION  If picked for this post, can you state and explain five duties that you will be required to perform. </vt:lpstr>
      <vt:lpstr>  THE MOST COMMON PRACTICAL QUESTIONS  A teacher is a planner. State four functions you will be expected to do in planning.   . Prepare schemes and records of work  . Prepare lesson plans   . Prepare teaching notes  . Identify and prepare learning     materials </vt:lpstr>
      <vt:lpstr>Explain at least FOUR factors that make schemes of work important in your teaching. (a) Schemes  enable the teacher to ensure that all  sections of the syllabus are covered Schemes  help the teacher to divide/segment the lessons (b) They aid in the preparation of lesson plans (c) They provide smooth takeover when the officer  allocated to teach the subject is absent or has  transferred, for continuity (d) They are a record monitored by Ministry officials  for quality control </vt:lpstr>
      <vt:lpstr>  Explain how guidance and counselling is significant to learners in secondary schools.  (a) Guiding on future career based on strong subject  choices (b) Providing emotional support to problems faced  by the students (c) Supporting learners with psycho-social problems  emanating from the status of the family (d) Helping learners achieve equal status in the  school (e) Team building </vt:lpstr>
      <vt:lpstr>As a form teacher, what would be your responsibilities at least four of these.  (a) Monitoring attendance (b) Compiling class results (c) Attending to the welfare of students (d) Overseeing the cleanliness of the  classroom  </vt:lpstr>
      <vt:lpstr>How do you motivate your students to become active learners in your class?  (a) First impression: eloquence, presentability, humour (b) Learner-centred approach (c) Interactive learning (d) Explaining the materials in a friendly manner (e) Honesty (f) Lively lessons, games, humour and fun (g) Providing rewards, positive reinforcement (h) Use of technology (i) Effective use of teaching and learning materials (j) Timely feedback after giving them a task (k)Trendy and well-versed with the current   developments in education </vt:lpstr>
      <vt:lpstr>State four elements you would look for when supervising a teacher.   (a)  Preparation: availability of schemes, lesson plan  and teaching and learning aids (b) Presentability (c) Knowledge of the subject matter (d) Effectiveness (e) Proper use of teaching and learning materials (f) Correct pacing during lesson presentation (g) Spreading of questions </vt:lpstr>
      <vt:lpstr>Why is a mark-book is important?  (a)  It is a record that guides the teacher to  check the progress of each particular  learner (b) It provides feed back to the school,  authorities and parents on the  performance of the students (c) It facilitates promotion of successful  students to the next class (d) It enables the teacher to select students  who may need remedial lessons. </vt:lpstr>
      <vt:lpstr>How would you improve the quality of teaching and learning at the institution? (a)  TALULAR (b) Following a recommended curriculum (c) Teaching every allocated period (d) Punctuality (e) Planning my work well: writing schemes and  records of work; lesson plans (f) Giving students tasks to perform: assignments  Assessment (g) Feedback (h) Team teaching/planning/marking   </vt:lpstr>
      <vt:lpstr>THE MOST COMMON GENERAL QUESTIONS  Why should a teacher uphold good conduct in the school?  (a) Uphold professionalism (b) Instil morale, morality and give sense of  direction (c)  Achievement of better results   </vt:lpstr>
      <vt:lpstr>Explain what is meant by social distance between learner and teacher. Why is it important?  (a)  It is a formal respectful relationship between a  teacher and a learner/ maintenance of a clear  boundary between a teacher and a learner. (b) There is no equal status between a teacher  and  a learner (c) Avoidance of emotional relationship that will  culminate into misbehaviour </vt:lpstr>
      <vt:lpstr>  - teacher-learner relationship to be  strong facilitation/impartation of  knowledge to the learner  - the importance is teacher integrity  it may erode self-respect and dent  reputation of the teacher and the  establishment </vt:lpstr>
      <vt:lpstr>How does research contribute to  effective teaching and learning? - It improves innovation and  creativity  - Abreast with current  developments  - Provides new and better direction  - Unveiling problems in the teaching and  finding solutions to those problems  </vt:lpstr>
      <vt:lpstr>   What does the word delegation mean and why is it important in schools?   - Delegation means assigning someone or a  group of people to carry out specific given tasks  on behalf of the one in authority   (a) To give oneself time to perform other  important duties, e.g. supervision </vt:lpstr>
      <vt:lpstr>(b)  To provide an opportunity for the  subordinates to be trained on decision  making as they carry out assigned tasks (c)  To create a growing sense of responsibility (d)  To increase teachers’ sense of belonging (e)  To motivate staff members (f)  To reduce indispensability </vt:lpstr>
      <vt:lpstr>What factors do you consider when delegating responsibilities to staff? (a) The nature of task requiring delegation (b) The capacity of the officer to be delegated (c) Responsibility/ trustworthiness/ integrity  Why have an Internal Procurement Committee (IPC) in the school?   (a) For value for money (b) For transparency and accountability (c)  Conflicts of interest are identified and managed (d) To check on fraud and corruption (e) For fair treatment of suppliers (f) To promote unity within the school      </vt:lpstr>
      <vt:lpstr>How do you motivate a teacher? (a) Recognition (b) Delegation (c) Participation (d) Communication (e) Staff development  How can you improve gender equality at the institution? (a) Class participation (b) Group work with mixed sexes</vt:lpstr>
      <vt:lpstr>THE END “Ndagha fiyo”</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APPROACH TO INTERVIEWS FOR PROMOTION  By Vincent Mbazi Mudolo (M.Ed; B.Ed; Dip.Ed)</dc:title>
  <dc:creator>USER</dc:creator>
  <cp:lastModifiedBy>User</cp:lastModifiedBy>
  <cp:revision>53</cp:revision>
  <dcterms:created xsi:type="dcterms:W3CDTF">2016-05-15T11:18:40Z</dcterms:created>
  <dcterms:modified xsi:type="dcterms:W3CDTF">2016-05-16T08:44:01Z</dcterms:modified>
</cp:coreProperties>
</file>